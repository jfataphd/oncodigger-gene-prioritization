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648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Pan-cancer top-20 mutation-associated gene signatures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4480" y="667512"/>
            <a:ext cx="3367781" cy="274320"/>
          </a:xfrm>
          <a:prstGeom prst="rect">
            <a:avLst/>
          </a:prstGeom>
          <a:solidFill>
            <a:srgbClr val="DCEBF7"/>
          </a:solidFill>
          <a:ln w="6350">
            <a:solidFill>
              <a:srgbClr val="56B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667512"/>
            <a:ext cx="3367781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72B2"/>
                </a:solidFill>
                <a:latin typeface="Arial"/>
              </a:rPr>
              <a:t>Genes in the top 10 of ≥1 cancer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922261" y="667512"/>
            <a:ext cx="381258" cy="274320"/>
          </a:xfrm>
          <a:prstGeom prst="rect">
            <a:avLst/>
          </a:prstGeom>
          <a:solidFill>
            <a:srgbClr val="D5F2E8"/>
          </a:solidFill>
          <a:ln w="635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22261" y="667512"/>
            <a:ext cx="38125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664A"/>
                </a:solidFill>
                <a:latin typeface="Arial"/>
              </a:rPr>
              <a:t>11–20</a:t>
            </a:r>
          </a:p>
          <a:p>
            <a:pPr algn="ctr"/>
            <a:r>
              <a:rPr sz="700" b="1" i="0">
                <a:solidFill>
                  <a:srgbClr val="00664A"/>
                </a:solidFill>
                <a:latin typeface="Arial"/>
              </a:rPr>
              <a:t>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18023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81566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45109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08652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2195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5738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99281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62824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26367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89910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53453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6996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80539" y="1005840"/>
            <a:ext cx="63543" cy="146304"/>
          </a:xfrm>
          <a:prstGeom prst="rect">
            <a:avLst/>
          </a:prstGeom>
          <a:solidFill>
            <a:srgbClr val="DDDDD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44082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07625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1168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34711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98254" y="1005840"/>
            <a:ext cx="63543" cy="146304"/>
          </a:xfrm>
          <a:prstGeom prst="rect">
            <a:avLst/>
          </a:prstGeom>
          <a:solidFill>
            <a:srgbClr val="DDDDD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61797" y="1005840"/>
            <a:ext cx="63543" cy="146304"/>
          </a:xfrm>
          <a:prstGeom prst="rect">
            <a:avLst/>
          </a:prstGeom>
          <a:solidFill>
            <a:srgbClr val="DDDDD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25341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88884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52427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15970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79513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43056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6599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70142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33685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97228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60771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24314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87857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1400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14943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78486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42029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05572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69115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32658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96202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59745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23288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86831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50374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13917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77460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41003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04546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68089" y="1005840"/>
            <a:ext cx="63543" cy="146304"/>
          </a:xfrm>
          <a:prstGeom prst="rect">
            <a:avLst/>
          </a:prstGeom>
          <a:solidFill>
            <a:srgbClr val="DDDDD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31632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95175" y="1005840"/>
            <a:ext cx="63543" cy="146304"/>
          </a:xfrm>
          <a:prstGeom prst="rect">
            <a:avLst/>
          </a:prstGeom>
          <a:solidFill>
            <a:srgbClr val="DDDDD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58718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22261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5804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49347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12890" y="1005840"/>
            <a:ext cx="63543" cy="146304"/>
          </a:xfrm>
          <a:prstGeom prst="rect">
            <a:avLst/>
          </a:prstGeom>
          <a:solidFill>
            <a:srgbClr val="DDDDD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176433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39976" y="1005840"/>
            <a:ext cx="63543" cy="146304"/>
          </a:xfrm>
          <a:prstGeom prst="rect">
            <a:avLst/>
          </a:prstGeom>
          <a:solidFill>
            <a:srgbClr val="333333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987552"/>
            <a:ext cx="1188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IntOGen driver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1216152"/>
            <a:ext cx="1188720" cy="23774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1207008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Leukemia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54480" y="1207008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18023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681566" y="1207008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45109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808652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72195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5738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999281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062824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126367" y="1207008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189910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253453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316996" y="1207008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380539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444082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507625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71168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634711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698254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61797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825341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8884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952427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015970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079513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143056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206599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270142" y="1207008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333685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397228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460771" y="1207008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524314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587857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651400" y="1207008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714943" y="1207008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778486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842029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905572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969115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032658" y="1207008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096202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159745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223288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286831" y="1207008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350374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413917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477460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541003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604546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668089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731632" y="1207008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795175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858718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922261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985804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049347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112890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176433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239976" y="120700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20040" y="1472184"/>
            <a:ext cx="1188720" cy="23774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" y="1463040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Lymphoma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554480" y="1463040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618023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681566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745109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808652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872195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935738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999281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062824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126367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189910" y="1463040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253453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316996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380539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444082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507625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571168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634711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698254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761797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825341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888884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952427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015970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079513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143056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206599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270142" y="1463040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333685" y="1463040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397228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460771" y="1463040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524314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587857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651400" y="1463040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714943" y="1463040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778486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842029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905572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969115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032658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096202" y="1463040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159745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4223288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286831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350374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413917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477460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541003" y="1463040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604546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668089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731632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795175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858718" y="1463040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922261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985804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049347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112890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176433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239976" y="146304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20040" y="1728216"/>
            <a:ext cx="1188720" cy="23774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20040" y="1719072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Myeloma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54480" y="1719072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618023" y="1719072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681566" y="1719072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745109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808652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872195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935738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999281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062824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126367" y="1719072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189910" y="1719072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2253453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316996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2380539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2444082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507625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571168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634711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698254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2761797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2825341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2888884" y="1719072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2952427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3015970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3079513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143056" y="1719072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206599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3270142" y="1719072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3333685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3397228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460771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3524314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3587857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3651400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3714943" y="1719072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3778486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3842029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905572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3969115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032658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096202" y="1719072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4159745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4223288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286831" y="1719072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4350374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4413917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4477460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541003" y="1719072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604546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668089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4731632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4795175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4858718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4922261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985804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049347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112890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176433" y="1719072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239976" y="171907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20040" y="1984248"/>
            <a:ext cx="1188720" cy="237744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320040" y="1975104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Breast Cancer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554480" y="1975104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618023" y="1975104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681566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745109" y="1975104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808652" y="1975104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872195" y="1975104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935738" y="1975104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999281" y="1975104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2062824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2126367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2189910" y="1975104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2253453" y="1975104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2316996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2380539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2444082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2507625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571168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2634711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2698254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2761797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2825341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2888884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2952427" y="1975104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3015970" y="1975104"/>
            <a:ext cx="63543" cy="256032"/>
          </a:xfrm>
          <a:prstGeom prst="rect">
            <a:avLst/>
          </a:prstGeom>
          <a:solidFill>
            <a:srgbClr val="5C779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3079513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3143056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3206599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3270142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3333685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3397228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3460771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3524314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3587857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3651400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3714943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3778486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3842029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3905572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3969115" y="1975104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4032658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4096202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4159745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4223288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4286831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4350374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4413917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4477460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4541003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4604546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4668089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4731632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4795175" y="1975104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4858718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4922261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4985804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5049347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5112890" y="1975104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5176433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5239976" y="197510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320040" y="2240280"/>
            <a:ext cx="1188720" cy="237744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320040" y="2231136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Cervical Cancer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554480" y="2231136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618023" y="2231136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681566" y="2231136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745109" y="2231136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808652" y="2231136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872195" y="2231136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935738" y="2231136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999281" y="2231136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2062824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2126367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2189910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2253453" y="2231136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2316996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2380539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444082" y="2231136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507625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2571168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634711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2698254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2761797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825341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2888884" y="2231136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2952427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3015970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3079513" y="2231136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3143056" y="2231136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206599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3270142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3333685" y="2231136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3397228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3460771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524314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3587857" y="2231136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3651400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3714943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3778486" y="2231136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3842029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905572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3969115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4032658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4096202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4159745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4223288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4286831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4350374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4413917" y="2231136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4477460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4541003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4604546" y="2231136"/>
            <a:ext cx="63543" cy="256032"/>
          </a:xfrm>
          <a:prstGeom prst="rect">
            <a:avLst/>
          </a:prstGeom>
          <a:solidFill>
            <a:srgbClr val="5C779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4668089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4731632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795175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4858718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4922261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985804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5049347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5112890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5176433" y="223113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5239976" y="2231136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320040" y="2496312"/>
            <a:ext cx="1188720" cy="237744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320040" y="2487168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Endometrial Cancer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1554480" y="2487168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618023" y="2487168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681566" y="2487168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745109" y="2487168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808652" y="2487168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872195" y="2487168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935738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999281" y="2487168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2062824" y="2487168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2126367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2189910" y="2487168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253453" y="2487168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2316996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380539" y="2487168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444082" y="2487168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2507625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2571168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2634711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2698254" y="2487168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2761797" y="2487168"/>
            <a:ext cx="63543" cy="256032"/>
          </a:xfrm>
          <a:prstGeom prst="rect">
            <a:avLst/>
          </a:prstGeom>
          <a:solidFill>
            <a:srgbClr val="5C779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2825341" y="2487168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2888884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2952427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3015970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3079513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3143056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3206599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3270142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3333685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3397228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3460771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3524314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3587857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3651400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3714943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3778486" y="2487168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3842029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3905572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3969115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4032658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4096202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4159745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4223288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4286831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4350374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4413917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4477460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4541003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4604546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4668089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4731632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4795175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4858718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4922261" y="2487168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4985804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5049347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5112890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5176433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5239976" y="248716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320040" y="2752344"/>
            <a:ext cx="1188720" cy="237744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320040" y="2743200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Ovarian Cancer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1554480" y="2743200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618023" y="2743200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681566" y="2743200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745109" y="2743200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808652" y="2743200"/>
            <a:ext cx="63543" cy="256032"/>
          </a:xfrm>
          <a:prstGeom prst="rect">
            <a:avLst/>
          </a:prstGeom>
          <a:solidFill>
            <a:srgbClr val="5C779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872195" y="2743200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935738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999281" y="2743200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2062824" y="2743200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2126367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2189910" y="2743200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2253453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2316996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2380539" y="2743200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2444082" y="2743200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2507625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2571168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2634711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2698254" y="2743200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2761797" y="2743200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2825341" y="2743200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2888884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2952427" y="2743200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3015970" y="2743200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3079513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3143056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3206599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3270142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3333685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3397228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3460771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3524314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3587857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3651400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3714943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3778486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3842029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3905572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3969115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4032658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4096202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4159745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4223288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4286831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4350374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4413917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4477460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4541003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4604546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4668089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4731632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4795175" y="2743200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4858718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4922261" y="2743200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4985804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5049347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5112890" y="2743200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5176433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5239976" y="274320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320040" y="3008376"/>
            <a:ext cx="1188720" cy="23774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320040" y="2999232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Colorectal Cancer</a:t>
            </a:r>
          </a:p>
        </p:txBody>
      </p:sp>
      <p:sp>
        <p:nvSpPr>
          <p:cNvPr id="496" name="Rectangle 495"/>
          <p:cNvSpPr/>
          <p:nvPr/>
        </p:nvSpPr>
        <p:spPr>
          <a:xfrm>
            <a:off x="1554480" y="2999232"/>
            <a:ext cx="63543" cy="256032"/>
          </a:xfrm>
          <a:prstGeom prst="rect">
            <a:avLst/>
          </a:prstGeom>
          <a:solidFill>
            <a:srgbClr val="5C779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1618023" y="2999232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1681566" y="2999232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1745109" y="2999232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1808652" y="2999232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1872195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1935738" y="2999232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999281" y="2999232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2062824" y="2999232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2126367" y="2999232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2189910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2253453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2316996" y="2999232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2380539" y="2999232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2444082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2507625" y="2999232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2571168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2634711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2698254" y="2999232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2761797" y="2999232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2825341" y="2999232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2888884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2952427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3015970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3079513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3143056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3206599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3270142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3333685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3397228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3460771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3524314" y="2999232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3587857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3651400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3714943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3778486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3842029" y="2999232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3905572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3969115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4032658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4096202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4159745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4223288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4286831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4350374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4413917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4477460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4541003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4604546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4668089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4731632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4795175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4858718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4922261" y="2999232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4985804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5049347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5112890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5176433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5239976" y="299923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320040" y="3264408"/>
            <a:ext cx="1188720" cy="23774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TextBox 555"/>
          <p:cNvSpPr txBox="1"/>
          <p:nvPr/>
        </p:nvSpPr>
        <p:spPr>
          <a:xfrm>
            <a:off x="320040" y="3255264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Esophageal Cancer</a:t>
            </a:r>
          </a:p>
        </p:txBody>
      </p:sp>
      <p:sp>
        <p:nvSpPr>
          <p:cNvPr id="557" name="Rectangle 556"/>
          <p:cNvSpPr/>
          <p:nvPr/>
        </p:nvSpPr>
        <p:spPr>
          <a:xfrm>
            <a:off x="1554480" y="3255264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1618023" y="3255264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1681566" y="3255264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1745109" y="3255264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1808652" y="3255264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1872195" y="3255264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1935738" y="3255264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1999281" y="3255264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2062824" y="3255264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2126367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2189910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2253453" y="3255264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2316996" y="3255264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2380539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2444082" y="3255264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2507625" y="3255264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2571168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2634711" y="3255264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2698254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2761797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2825341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2888884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2952427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3015970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3079513" y="3255264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3143056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3206599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3270142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3333685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3397228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3460771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3524314" y="3255264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3587857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3651400" y="3255264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3714943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3778486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3842029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3905572" y="3255264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3969115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4032658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4096202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4159745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4223288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4286831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4350374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4413917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4477460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4541003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4604546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4668089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4731632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4795175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4858718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4922261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4985804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5049347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5112890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5176433" y="3255264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5239976" y="325526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320040" y="3520440"/>
            <a:ext cx="1188720" cy="23774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320040" y="3511296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Liver Cancer</a:t>
            </a:r>
          </a:p>
        </p:txBody>
      </p:sp>
      <p:sp>
        <p:nvSpPr>
          <p:cNvPr id="618" name="Rectangle 617"/>
          <p:cNvSpPr/>
          <p:nvPr/>
        </p:nvSpPr>
        <p:spPr>
          <a:xfrm>
            <a:off x="1554480" y="3511296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1618023" y="3511296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1681566" y="3511296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1745109" y="3511296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1808652" y="3511296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1872195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1935738" y="3511296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1999281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2062824" y="3511296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2126367" y="3511296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2189910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2253453" y="3511296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2316996" y="3511296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2380539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2444082" y="3511296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2507625" y="3511296"/>
            <a:ext cx="63543" cy="256032"/>
          </a:xfrm>
          <a:prstGeom prst="rect">
            <a:avLst/>
          </a:prstGeom>
          <a:solidFill>
            <a:srgbClr val="5C779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2571168" y="3511296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2634711" y="3511296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2698254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2761797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2825341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2888884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2952427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3015970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3079513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3143056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3206599" y="3511296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3270142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3333685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3397228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3460771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3524314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3587857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3651400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3714943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3778486" y="3511296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3842029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3905572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3969115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4032658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4096202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4159745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4223288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4286831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4350374" y="3511296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4413917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4477460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4541003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4604546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4668089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4731632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4795175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4858718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4922261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4985804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5049347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Rectangle 673"/>
          <p:cNvSpPr/>
          <p:nvPr/>
        </p:nvSpPr>
        <p:spPr>
          <a:xfrm>
            <a:off x="5112890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5176433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5239976" y="351129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Rectangle 676"/>
          <p:cNvSpPr/>
          <p:nvPr/>
        </p:nvSpPr>
        <p:spPr>
          <a:xfrm>
            <a:off x="320040" y="3776472"/>
            <a:ext cx="1188720" cy="23774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TextBox 677"/>
          <p:cNvSpPr txBox="1"/>
          <p:nvPr/>
        </p:nvSpPr>
        <p:spPr>
          <a:xfrm>
            <a:off x="320040" y="3767328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Pancreatic Cancer</a:t>
            </a:r>
          </a:p>
        </p:txBody>
      </p:sp>
      <p:sp>
        <p:nvSpPr>
          <p:cNvPr id="679" name="Rectangle 678"/>
          <p:cNvSpPr/>
          <p:nvPr/>
        </p:nvSpPr>
        <p:spPr>
          <a:xfrm>
            <a:off x="1554480" y="3767328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1618023" y="3767328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1681566" y="3767328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Rectangle 681"/>
          <p:cNvSpPr/>
          <p:nvPr/>
        </p:nvSpPr>
        <p:spPr>
          <a:xfrm>
            <a:off x="1745109" y="3767328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1808652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1872195" y="3767328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Rectangle 684"/>
          <p:cNvSpPr/>
          <p:nvPr/>
        </p:nvSpPr>
        <p:spPr>
          <a:xfrm>
            <a:off x="1935738" y="3767328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Rectangle 685"/>
          <p:cNvSpPr/>
          <p:nvPr/>
        </p:nvSpPr>
        <p:spPr>
          <a:xfrm>
            <a:off x="1999281" y="3767328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2062824" y="3767328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Rectangle 687"/>
          <p:cNvSpPr/>
          <p:nvPr/>
        </p:nvSpPr>
        <p:spPr>
          <a:xfrm>
            <a:off x="2126367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Rectangle 688"/>
          <p:cNvSpPr/>
          <p:nvPr/>
        </p:nvSpPr>
        <p:spPr>
          <a:xfrm>
            <a:off x="2189910" y="3767328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2253453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2316996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2380539" y="3767328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2444082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2507625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2571168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2634711" y="3767328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2698254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2761797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2825341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2888884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2952427" y="3767328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3015970" y="3767328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3079513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3143056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3206599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3270142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3333685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3397228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3460771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3524314" y="3767328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3587857" y="3767328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3651400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3714943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3778486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3842029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3905572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3969115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4032658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4096202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4159745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4223288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4286831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4350374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4413917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ectangle 724"/>
          <p:cNvSpPr/>
          <p:nvPr/>
        </p:nvSpPr>
        <p:spPr>
          <a:xfrm>
            <a:off x="4477460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ectangle 725"/>
          <p:cNvSpPr/>
          <p:nvPr/>
        </p:nvSpPr>
        <p:spPr>
          <a:xfrm>
            <a:off x="4541003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4604546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4668089" y="3767328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4731632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4795175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4858718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4922261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4985804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5049347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5112890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5176433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5239976" y="376732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320040" y="4032504"/>
            <a:ext cx="1188720" cy="23774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TextBox 738"/>
          <p:cNvSpPr txBox="1"/>
          <p:nvPr/>
        </p:nvSpPr>
        <p:spPr>
          <a:xfrm>
            <a:off x="320040" y="4023360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Stomach Cancer</a:t>
            </a:r>
          </a:p>
        </p:txBody>
      </p:sp>
      <p:sp>
        <p:nvSpPr>
          <p:cNvPr id="740" name="Rectangle 739"/>
          <p:cNvSpPr/>
          <p:nvPr/>
        </p:nvSpPr>
        <p:spPr>
          <a:xfrm>
            <a:off x="1554480" y="4023360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1618023" y="4023360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1681566" y="4023360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1745109" y="4023360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1808652" y="4023360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1872195" y="4023360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1935738" y="4023360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1999281" y="4023360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2062824" y="4023360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2126367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2189910" y="4023360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2253453" y="4023360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2316996" y="4023360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2380539" y="4023360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Rectangle 753"/>
          <p:cNvSpPr/>
          <p:nvPr/>
        </p:nvSpPr>
        <p:spPr>
          <a:xfrm>
            <a:off x="2444082" y="4023360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Rectangle 754"/>
          <p:cNvSpPr/>
          <p:nvPr/>
        </p:nvSpPr>
        <p:spPr>
          <a:xfrm>
            <a:off x="2507625" y="4023360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Rectangle 755"/>
          <p:cNvSpPr/>
          <p:nvPr/>
        </p:nvSpPr>
        <p:spPr>
          <a:xfrm>
            <a:off x="2571168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Rectangle 756"/>
          <p:cNvSpPr/>
          <p:nvPr/>
        </p:nvSpPr>
        <p:spPr>
          <a:xfrm>
            <a:off x="2634711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Rectangle 757"/>
          <p:cNvSpPr/>
          <p:nvPr/>
        </p:nvSpPr>
        <p:spPr>
          <a:xfrm>
            <a:off x="2698254" y="4023360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Rectangle 758"/>
          <p:cNvSpPr/>
          <p:nvPr/>
        </p:nvSpPr>
        <p:spPr>
          <a:xfrm>
            <a:off x="2761797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Rectangle 759"/>
          <p:cNvSpPr/>
          <p:nvPr/>
        </p:nvSpPr>
        <p:spPr>
          <a:xfrm>
            <a:off x="2825341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Rectangle 760"/>
          <p:cNvSpPr/>
          <p:nvPr/>
        </p:nvSpPr>
        <p:spPr>
          <a:xfrm>
            <a:off x="2888884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Rectangle 761"/>
          <p:cNvSpPr/>
          <p:nvPr/>
        </p:nvSpPr>
        <p:spPr>
          <a:xfrm>
            <a:off x="2952427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Rectangle 762"/>
          <p:cNvSpPr/>
          <p:nvPr/>
        </p:nvSpPr>
        <p:spPr>
          <a:xfrm>
            <a:off x="3015970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Rectangle 763"/>
          <p:cNvSpPr/>
          <p:nvPr/>
        </p:nvSpPr>
        <p:spPr>
          <a:xfrm>
            <a:off x="3079513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Rectangle 764"/>
          <p:cNvSpPr/>
          <p:nvPr/>
        </p:nvSpPr>
        <p:spPr>
          <a:xfrm>
            <a:off x="3143056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Rectangle 765"/>
          <p:cNvSpPr/>
          <p:nvPr/>
        </p:nvSpPr>
        <p:spPr>
          <a:xfrm>
            <a:off x="3206599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Rectangle 766"/>
          <p:cNvSpPr/>
          <p:nvPr/>
        </p:nvSpPr>
        <p:spPr>
          <a:xfrm>
            <a:off x="3270142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ectangle 767"/>
          <p:cNvSpPr/>
          <p:nvPr/>
        </p:nvSpPr>
        <p:spPr>
          <a:xfrm>
            <a:off x="3333685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Rectangle 768"/>
          <p:cNvSpPr/>
          <p:nvPr/>
        </p:nvSpPr>
        <p:spPr>
          <a:xfrm>
            <a:off x="3397228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Rectangle 769"/>
          <p:cNvSpPr/>
          <p:nvPr/>
        </p:nvSpPr>
        <p:spPr>
          <a:xfrm>
            <a:off x="3460771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ectangle 770"/>
          <p:cNvSpPr/>
          <p:nvPr/>
        </p:nvSpPr>
        <p:spPr>
          <a:xfrm>
            <a:off x="3524314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ectangle 771"/>
          <p:cNvSpPr/>
          <p:nvPr/>
        </p:nvSpPr>
        <p:spPr>
          <a:xfrm>
            <a:off x="3587857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3651400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3714943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3778486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3842029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3905572" y="4023360"/>
            <a:ext cx="63543" cy="256032"/>
          </a:xfrm>
          <a:prstGeom prst="rect">
            <a:avLst/>
          </a:prstGeom>
          <a:solidFill>
            <a:srgbClr val="5C779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3969115" y="4023360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Rectangle 778"/>
          <p:cNvSpPr/>
          <p:nvPr/>
        </p:nvSpPr>
        <p:spPr>
          <a:xfrm>
            <a:off x="4032658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4096202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4159745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4223288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4286831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4350374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4413917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4477460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4541003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4604546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4668089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4731632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4795175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4858718" y="4023360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Rectangle 792"/>
          <p:cNvSpPr/>
          <p:nvPr/>
        </p:nvSpPr>
        <p:spPr>
          <a:xfrm>
            <a:off x="4922261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ectangle 793"/>
          <p:cNvSpPr/>
          <p:nvPr/>
        </p:nvSpPr>
        <p:spPr>
          <a:xfrm>
            <a:off x="4985804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5049347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Rectangle 795"/>
          <p:cNvSpPr/>
          <p:nvPr/>
        </p:nvSpPr>
        <p:spPr>
          <a:xfrm>
            <a:off x="5112890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Rectangle 796"/>
          <p:cNvSpPr/>
          <p:nvPr/>
        </p:nvSpPr>
        <p:spPr>
          <a:xfrm>
            <a:off x="5176433" y="402336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Rectangle 797"/>
          <p:cNvSpPr/>
          <p:nvPr/>
        </p:nvSpPr>
        <p:spPr>
          <a:xfrm>
            <a:off x="5239976" y="4023360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Rectangle 798"/>
          <p:cNvSpPr/>
          <p:nvPr/>
        </p:nvSpPr>
        <p:spPr>
          <a:xfrm>
            <a:off x="320040" y="4288536"/>
            <a:ext cx="1188720" cy="23774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320040" y="4279392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Bladder Cancer</a:t>
            </a:r>
          </a:p>
        </p:txBody>
      </p:sp>
      <p:sp>
        <p:nvSpPr>
          <p:cNvPr id="801" name="Rectangle 800"/>
          <p:cNvSpPr/>
          <p:nvPr/>
        </p:nvSpPr>
        <p:spPr>
          <a:xfrm>
            <a:off x="1554480" y="4279392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Rectangle 801"/>
          <p:cNvSpPr/>
          <p:nvPr/>
        </p:nvSpPr>
        <p:spPr>
          <a:xfrm>
            <a:off x="1618023" y="4279392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Rectangle 802"/>
          <p:cNvSpPr/>
          <p:nvPr/>
        </p:nvSpPr>
        <p:spPr>
          <a:xfrm>
            <a:off x="1681566" y="4279392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Rectangle 803"/>
          <p:cNvSpPr/>
          <p:nvPr/>
        </p:nvSpPr>
        <p:spPr>
          <a:xfrm>
            <a:off x="1745109" y="4279392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Rectangle 804"/>
          <p:cNvSpPr/>
          <p:nvPr/>
        </p:nvSpPr>
        <p:spPr>
          <a:xfrm>
            <a:off x="1808652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Rectangle 805"/>
          <p:cNvSpPr/>
          <p:nvPr/>
        </p:nvSpPr>
        <p:spPr>
          <a:xfrm>
            <a:off x="1872195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Rectangle 806"/>
          <p:cNvSpPr/>
          <p:nvPr/>
        </p:nvSpPr>
        <p:spPr>
          <a:xfrm>
            <a:off x="1935738" y="4279392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Rectangle 807"/>
          <p:cNvSpPr/>
          <p:nvPr/>
        </p:nvSpPr>
        <p:spPr>
          <a:xfrm>
            <a:off x="1999281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Rectangle 808"/>
          <p:cNvSpPr/>
          <p:nvPr/>
        </p:nvSpPr>
        <p:spPr>
          <a:xfrm>
            <a:off x="2062824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Rectangle 809"/>
          <p:cNvSpPr/>
          <p:nvPr/>
        </p:nvSpPr>
        <p:spPr>
          <a:xfrm>
            <a:off x="2126367" y="4279392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Rectangle 810"/>
          <p:cNvSpPr/>
          <p:nvPr/>
        </p:nvSpPr>
        <p:spPr>
          <a:xfrm>
            <a:off x="2189910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Rectangle 811"/>
          <p:cNvSpPr/>
          <p:nvPr/>
        </p:nvSpPr>
        <p:spPr>
          <a:xfrm>
            <a:off x="2253453" y="4279392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Rectangle 812"/>
          <p:cNvSpPr/>
          <p:nvPr/>
        </p:nvSpPr>
        <p:spPr>
          <a:xfrm>
            <a:off x="2316996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Rectangle 813"/>
          <p:cNvSpPr/>
          <p:nvPr/>
        </p:nvSpPr>
        <p:spPr>
          <a:xfrm>
            <a:off x="2380539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Rectangle 814"/>
          <p:cNvSpPr/>
          <p:nvPr/>
        </p:nvSpPr>
        <p:spPr>
          <a:xfrm>
            <a:off x="2444082" y="4279392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Rectangle 815"/>
          <p:cNvSpPr/>
          <p:nvPr/>
        </p:nvSpPr>
        <p:spPr>
          <a:xfrm>
            <a:off x="2507625" y="4279392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Rectangle 816"/>
          <p:cNvSpPr/>
          <p:nvPr/>
        </p:nvSpPr>
        <p:spPr>
          <a:xfrm>
            <a:off x="2571168" y="4279392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Rectangle 817"/>
          <p:cNvSpPr/>
          <p:nvPr/>
        </p:nvSpPr>
        <p:spPr>
          <a:xfrm>
            <a:off x="2634711" y="4279392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Rectangle 818"/>
          <p:cNvSpPr/>
          <p:nvPr/>
        </p:nvSpPr>
        <p:spPr>
          <a:xfrm>
            <a:off x="2698254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Rectangle 819"/>
          <p:cNvSpPr/>
          <p:nvPr/>
        </p:nvSpPr>
        <p:spPr>
          <a:xfrm>
            <a:off x="2761797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Rectangle 820"/>
          <p:cNvSpPr/>
          <p:nvPr/>
        </p:nvSpPr>
        <p:spPr>
          <a:xfrm>
            <a:off x="2825341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Rectangle 821"/>
          <p:cNvSpPr/>
          <p:nvPr/>
        </p:nvSpPr>
        <p:spPr>
          <a:xfrm>
            <a:off x="2888884" y="4279392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Rectangle 822"/>
          <p:cNvSpPr/>
          <p:nvPr/>
        </p:nvSpPr>
        <p:spPr>
          <a:xfrm>
            <a:off x="2952427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Rectangle 823"/>
          <p:cNvSpPr/>
          <p:nvPr/>
        </p:nvSpPr>
        <p:spPr>
          <a:xfrm>
            <a:off x="3015970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Rectangle 824"/>
          <p:cNvSpPr/>
          <p:nvPr/>
        </p:nvSpPr>
        <p:spPr>
          <a:xfrm>
            <a:off x="3079513" y="4279392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Rectangle 825"/>
          <p:cNvSpPr/>
          <p:nvPr/>
        </p:nvSpPr>
        <p:spPr>
          <a:xfrm>
            <a:off x="3143056" y="4279392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Rectangle 826"/>
          <p:cNvSpPr/>
          <p:nvPr/>
        </p:nvSpPr>
        <p:spPr>
          <a:xfrm>
            <a:off x="3206599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Rectangle 827"/>
          <p:cNvSpPr/>
          <p:nvPr/>
        </p:nvSpPr>
        <p:spPr>
          <a:xfrm>
            <a:off x="3270142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Rectangle 828"/>
          <p:cNvSpPr/>
          <p:nvPr/>
        </p:nvSpPr>
        <p:spPr>
          <a:xfrm>
            <a:off x="3333685" y="4279392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Rectangle 829"/>
          <p:cNvSpPr/>
          <p:nvPr/>
        </p:nvSpPr>
        <p:spPr>
          <a:xfrm>
            <a:off x="3397228" y="4279392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Rectangle 830"/>
          <p:cNvSpPr/>
          <p:nvPr/>
        </p:nvSpPr>
        <p:spPr>
          <a:xfrm>
            <a:off x="3460771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Rectangle 831"/>
          <p:cNvSpPr/>
          <p:nvPr/>
        </p:nvSpPr>
        <p:spPr>
          <a:xfrm>
            <a:off x="3524314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Rectangle 832"/>
          <p:cNvSpPr/>
          <p:nvPr/>
        </p:nvSpPr>
        <p:spPr>
          <a:xfrm>
            <a:off x="3587857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Rectangle 833"/>
          <p:cNvSpPr/>
          <p:nvPr/>
        </p:nvSpPr>
        <p:spPr>
          <a:xfrm>
            <a:off x="3651400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Rectangle 834"/>
          <p:cNvSpPr/>
          <p:nvPr/>
        </p:nvSpPr>
        <p:spPr>
          <a:xfrm>
            <a:off x="3714943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Rectangle 835"/>
          <p:cNvSpPr/>
          <p:nvPr/>
        </p:nvSpPr>
        <p:spPr>
          <a:xfrm>
            <a:off x="3778486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Rectangle 836"/>
          <p:cNvSpPr/>
          <p:nvPr/>
        </p:nvSpPr>
        <p:spPr>
          <a:xfrm>
            <a:off x="3842029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Rectangle 837"/>
          <p:cNvSpPr/>
          <p:nvPr/>
        </p:nvSpPr>
        <p:spPr>
          <a:xfrm>
            <a:off x="3905572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Rectangle 838"/>
          <p:cNvSpPr/>
          <p:nvPr/>
        </p:nvSpPr>
        <p:spPr>
          <a:xfrm>
            <a:off x="3969115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Rectangle 839"/>
          <p:cNvSpPr/>
          <p:nvPr/>
        </p:nvSpPr>
        <p:spPr>
          <a:xfrm>
            <a:off x="4032658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Rectangle 840"/>
          <p:cNvSpPr/>
          <p:nvPr/>
        </p:nvSpPr>
        <p:spPr>
          <a:xfrm>
            <a:off x="4096202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Rectangle 841"/>
          <p:cNvSpPr/>
          <p:nvPr/>
        </p:nvSpPr>
        <p:spPr>
          <a:xfrm>
            <a:off x="4159745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Rectangle 842"/>
          <p:cNvSpPr/>
          <p:nvPr/>
        </p:nvSpPr>
        <p:spPr>
          <a:xfrm>
            <a:off x="4223288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Rectangle 843"/>
          <p:cNvSpPr/>
          <p:nvPr/>
        </p:nvSpPr>
        <p:spPr>
          <a:xfrm>
            <a:off x="4286831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Rectangle 844"/>
          <p:cNvSpPr/>
          <p:nvPr/>
        </p:nvSpPr>
        <p:spPr>
          <a:xfrm>
            <a:off x="4350374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Rectangle 845"/>
          <p:cNvSpPr/>
          <p:nvPr/>
        </p:nvSpPr>
        <p:spPr>
          <a:xfrm>
            <a:off x="4413917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Rectangle 846"/>
          <p:cNvSpPr/>
          <p:nvPr/>
        </p:nvSpPr>
        <p:spPr>
          <a:xfrm>
            <a:off x="4477460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Rectangle 847"/>
          <p:cNvSpPr/>
          <p:nvPr/>
        </p:nvSpPr>
        <p:spPr>
          <a:xfrm>
            <a:off x="4541003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Rectangle 848"/>
          <p:cNvSpPr/>
          <p:nvPr/>
        </p:nvSpPr>
        <p:spPr>
          <a:xfrm>
            <a:off x="4604546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Rectangle 849"/>
          <p:cNvSpPr/>
          <p:nvPr/>
        </p:nvSpPr>
        <p:spPr>
          <a:xfrm>
            <a:off x="4668089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Rectangle 850"/>
          <p:cNvSpPr/>
          <p:nvPr/>
        </p:nvSpPr>
        <p:spPr>
          <a:xfrm>
            <a:off x="4731632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Rectangle 851"/>
          <p:cNvSpPr/>
          <p:nvPr/>
        </p:nvSpPr>
        <p:spPr>
          <a:xfrm>
            <a:off x="4795175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Rectangle 852"/>
          <p:cNvSpPr/>
          <p:nvPr/>
        </p:nvSpPr>
        <p:spPr>
          <a:xfrm>
            <a:off x="4858718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Rectangle 853"/>
          <p:cNvSpPr/>
          <p:nvPr/>
        </p:nvSpPr>
        <p:spPr>
          <a:xfrm>
            <a:off x="4922261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Rectangle 854"/>
          <p:cNvSpPr/>
          <p:nvPr/>
        </p:nvSpPr>
        <p:spPr>
          <a:xfrm>
            <a:off x="4985804" y="4279392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Rectangle 855"/>
          <p:cNvSpPr/>
          <p:nvPr/>
        </p:nvSpPr>
        <p:spPr>
          <a:xfrm>
            <a:off x="5049347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Rectangle 856"/>
          <p:cNvSpPr/>
          <p:nvPr/>
        </p:nvSpPr>
        <p:spPr>
          <a:xfrm>
            <a:off x="5112890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Rectangle 857"/>
          <p:cNvSpPr/>
          <p:nvPr/>
        </p:nvSpPr>
        <p:spPr>
          <a:xfrm>
            <a:off x="5176433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Rectangle 858"/>
          <p:cNvSpPr/>
          <p:nvPr/>
        </p:nvSpPr>
        <p:spPr>
          <a:xfrm>
            <a:off x="5239976" y="427939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Rectangle 859"/>
          <p:cNvSpPr/>
          <p:nvPr/>
        </p:nvSpPr>
        <p:spPr>
          <a:xfrm>
            <a:off x="320040" y="4544568"/>
            <a:ext cx="1188720" cy="23774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TextBox 860"/>
          <p:cNvSpPr txBox="1"/>
          <p:nvPr/>
        </p:nvSpPr>
        <p:spPr>
          <a:xfrm>
            <a:off x="320040" y="4535424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Kidney Cancer</a:t>
            </a:r>
          </a:p>
        </p:txBody>
      </p:sp>
      <p:sp>
        <p:nvSpPr>
          <p:cNvPr id="862" name="Rectangle 861"/>
          <p:cNvSpPr/>
          <p:nvPr/>
        </p:nvSpPr>
        <p:spPr>
          <a:xfrm>
            <a:off x="1554480" y="4535424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Rectangle 862"/>
          <p:cNvSpPr/>
          <p:nvPr/>
        </p:nvSpPr>
        <p:spPr>
          <a:xfrm>
            <a:off x="1618023" y="4535424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Rectangle 863"/>
          <p:cNvSpPr/>
          <p:nvPr/>
        </p:nvSpPr>
        <p:spPr>
          <a:xfrm>
            <a:off x="1681566" y="4535424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Rectangle 864"/>
          <p:cNvSpPr/>
          <p:nvPr/>
        </p:nvSpPr>
        <p:spPr>
          <a:xfrm>
            <a:off x="1745109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Rectangle 865"/>
          <p:cNvSpPr/>
          <p:nvPr/>
        </p:nvSpPr>
        <p:spPr>
          <a:xfrm>
            <a:off x="1808652" y="4535424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Rectangle 866"/>
          <p:cNvSpPr/>
          <p:nvPr/>
        </p:nvSpPr>
        <p:spPr>
          <a:xfrm>
            <a:off x="1872195" y="4535424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Rectangle 867"/>
          <p:cNvSpPr/>
          <p:nvPr/>
        </p:nvSpPr>
        <p:spPr>
          <a:xfrm>
            <a:off x="1935738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Rectangle 868"/>
          <p:cNvSpPr/>
          <p:nvPr/>
        </p:nvSpPr>
        <p:spPr>
          <a:xfrm>
            <a:off x="1999281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Rectangle 869"/>
          <p:cNvSpPr/>
          <p:nvPr/>
        </p:nvSpPr>
        <p:spPr>
          <a:xfrm>
            <a:off x="2062824" y="4535424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Rectangle 870"/>
          <p:cNvSpPr/>
          <p:nvPr/>
        </p:nvSpPr>
        <p:spPr>
          <a:xfrm>
            <a:off x="2126367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Rectangle 871"/>
          <p:cNvSpPr/>
          <p:nvPr/>
        </p:nvSpPr>
        <p:spPr>
          <a:xfrm>
            <a:off x="2189910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Rectangle 872"/>
          <p:cNvSpPr/>
          <p:nvPr/>
        </p:nvSpPr>
        <p:spPr>
          <a:xfrm>
            <a:off x="2253453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Rectangle 873"/>
          <p:cNvSpPr/>
          <p:nvPr/>
        </p:nvSpPr>
        <p:spPr>
          <a:xfrm>
            <a:off x="2316996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Rectangle 874"/>
          <p:cNvSpPr/>
          <p:nvPr/>
        </p:nvSpPr>
        <p:spPr>
          <a:xfrm>
            <a:off x="2380539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Rectangle 875"/>
          <p:cNvSpPr/>
          <p:nvPr/>
        </p:nvSpPr>
        <p:spPr>
          <a:xfrm>
            <a:off x="2444082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Rectangle 876"/>
          <p:cNvSpPr/>
          <p:nvPr/>
        </p:nvSpPr>
        <p:spPr>
          <a:xfrm>
            <a:off x="2507625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Rectangle 877"/>
          <p:cNvSpPr/>
          <p:nvPr/>
        </p:nvSpPr>
        <p:spPr>
          <a:xfrm>
            <a:off x="2571168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Rectangle 878"/>
          <p:cNvSpPr/>
          <p:nvPr/>
        </p:nvSpPr>
        <p:spPr>
          <a:xfrm>
            <a:off x="2634711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Rectangle 879"/>
          <p:cNvSpPr/>
          <p:nvPr/>
        </p:nvSpPr>
        <p:spPr>
          <a:xfrm>
            <a:off x="2698254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Rectangle 880"/>
          <p:cNvSpPr/>
          <p:nvPr/>
        </p:nvSpPr>
        <p:spPr>
          <a:xfrm>
            <a:off x="2761797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Rectangle 881"/>
          <p:cNvSpPr/>
          <p:nvPr/>
        </p:nvSpPr>
        <p:spPr>
          <a:xfrm>
            <a:off x="2825341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Rectangle 882"/>
          <p:cNvSpPr/>
          <p:nvPr/>
        </p:nvSpPr>
        <p:spPr>
          <a:xfrm>
            <a:off x="2888884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Rectangle 883"/>
          <p:cNvSpPr/>
          <p:nvPr/>
        </p:nvSpPr>
        <p:spPr>
          <a:xfrm>
            <a:off x="2952427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Rectangle 884"/>
          <p:cNvSpPr/>
          <p:nvPr/>
        </p:nvSpPr>
        <p:spPr>
          <a:xfrm>
            <a:off x="3015970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Rectangle 885"/>
          <p:cNvSpPr/>
          <p:nvPr/>
        </p:nvSpPr>
        <p:spPr>
          <a:xfrm>
            <a:off x="3079513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Rectangle 886"/>
          <p:cNvSpPr/>
          <p:nvPr/>
        </p:nvSpPr>
        <p:spPr>
          <a:xfrm>
            <a:off x="3143056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Rectangle 887"/>
          <p:cNvSpPr/>
          <p:nvPr/>
        </p:nvSpPr>
        <p:spPr>
          <a:xfrm>
            <a:off x="3206599" y="4535424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Rectangle 888"/>
          <p:cNvSpPr/>
          <p:nvPr/>
        </p:nvSpPr>
        <p:spPr>
          <a:xfrm>
            <a:off x="3270142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Rectangle 889"/>
          <p:cNvSpPr/>
          <p:nvPr/>
        </p:nvSpPr>
        <p:spPr>
          <a:xfrm>
            <a:off x="3333685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Rectangle 890"/>
          <p:cNvSpPr/>
          <p:nvPr/>
        </p:nvSpPr>
        <p:spPr>
          <a:xfrm>
            <a:off x="3397228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Rectangle 891"/>
          <p:cNvSpPr/>
          <p:nvPr/>
        </p:nvSpPr>
        <p:spPr>
          <a:xfrm>
            <a:off x="3460771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Rectangle 892"/>
          <p:cNvSpPr/>
          <p:nvPr/>
        </p:nvSpPr>
        <p:spPr>
          <a:xfrm>
            <a:off x="3524314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Rectangle 893"/>
          <p:cNvSpPr/>
          <p:nvPr/>
        </p:nvSpPr>
        <p:spPr>
          <a:xfrm>
            <a:off x="3587857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Rectangle 894"/>
          <p:cNvSpPr/>
          <p:nvPr/>
        </p:nvSpPr>
        <p:spPr>
          <a:xfrm>
            <a:off x="3651400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Rectangle 895"/>
          <p:cNvSpPr/>
          <p:nvPr/>
        </p:nvSpPr>
        <p:spPr>
          <a:xfrm>
            <a:off x="3714943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Rectangle 896"/>
          <p:cNvSpPr/>
          <p:nvPr/>
        </p:nvSpPr>
        <p:spPr>
          <a:xfrm>
            <a:off x="3778486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Rectangle 897"/>
          <p:cNvSpPr/>
          <p:nvPr/>
        </p:nvSpPr>
        <p:spPr>
          <a:xfrm>
            <a:off x="3842029" y="4535424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Rectangle 898"/>
          <p:cNvSpPr/>
          <p:nvPr/>
        </p:nvSpPr>
        <p:spPr>
          <a:xfrm>
            <a:off x="3905572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Rectangle 899"/>
          <p:cNvSpPr/>
          <p:nvPr/>
        </p:nvSpPr>
        <p:spPr>
          <a:xfrm>
            <a:off x="3969115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Rectangle 900"/>
          <p:cNvSpPr/>
          <p:nvPr/>
        </p:nvSpPr>
        <p:spPr>
          <a:xfrm>
            <a:off x="4032658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4096202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4159745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Rectangle 903"/>
          <p:cNvSpPr/>
          <p:nvPr/>
        </p:nvSpPr>
        <p:spPr>
          <a:xfrm>
            <a:off x="4223288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Rectangle 904"/>
          <p:cNvSpPr/>
          <p:nvPr/>
        </p:nvSpPr>
        <p:spPr>
          <a:xfrm>
            <a:off x="4286831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Rectangle 905"/>
          <p:cNvSpPr/>
          <p:nvPr/>
        </p:nvSpPr>
        <p:spPr>
          <a:xfrm>
            <a:off x="4350374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Rectangle 906"/>
          <p:cNvSpPr/>
          <p:nvPr/>
        </p:nvSpPr>
        <p:spPr>
          <a:xfrm>
            <a:off x="4413917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Rectangle 907"/>
          <p:cNvSpPr/>
          <p:nvPr/>
        </p:nvSpPr>
        <p:spPr>
          <a:xfrm>
            <a:off x="4477460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4541003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4604546" y="4535424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Rectangle 910"/>
          <p:cNvSpPr/>
          <p:nvPr/>
        </p:nvSpPr>
        <p:spPr>
          <a:xfrm>
            <a:off x="4668089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Rectangle 911"/>
          <p:cNvSpPr/>
          <p:nvPr/>
        </p:nvSpPr>
        <p:spPr>
          <a:xfrm>
            <a:off x="4731632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Rectangle 912"/>
          <p:cNvSpPr/>
          <p:nvPr/>
        </p:nvSpPr>
        <p:spPr>
          <a:xfrm>
            <a:off x="4795175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Rectangle 913"/>
          <p:cNvSpPr/>
          <p:nvPr/>
        </p:nvSpPr>
        <p:spPr>
          <a:xfrm>
            <a:off x="4858718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Rectangle 914"/>
          <p:cNvSpPr/>
          <p:nvPr/>
        </p:nvSpPr>
        <p:spPr>
          <a:xfrm>
            <a:off x="4922261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4985804" y="4535424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049347" y="4535424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Rectangle 917"/>
          <p:cNvSpPr/>
          <p:nvPr/>
        </p:nvSpPr>
        <p:spPr>
          <a:xfrm>
            <a:off x="5112890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Rectangle 918"/>
          <p:cNvSpPr/>
          <p:nvPr/>
        </p:nvSpPr>
        <p:spPr>
          <a:xfrm>
            <a:off x="5176433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Rectangle 919"/>
          <p:cNvSpPr/>
          <p:nvPr/>
        </p:nvSpPr>
        <p:spPr>
          <a:xfrm>
            <a:off x="5239976" y="453542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320040" y="4800600"/>
            <a:ext cx="1188720" cy="23774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TextBox 921"/>
          <p:cNvSpPr txBox="1"/>
          <p:nvPr/>
        </p:nvSpPr>
        <p:spPr>
          <a:xfrm>
            <a:off x="320040" y="4791456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Prostate Cancer</a:t>
            </a:r>
          </a:p>
        </p:txBody>
      </p:sp>
      <p:sp>
        <p:nvSpPr>
          <p:cNvPr id="923" name="Rectangle 922"/>
          <p:cNvSpPr/>
          <p:nvPr/>
        </p:nvSpPr>
        <p:spPr>
          <a:xfrm>
            <a:off x="1554480" y="4791456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Rectangle 923"/>
          <p:cNvSpPr/>
          <p:nvPr/>
        </p:nvSpPr>
        <p:spPr>
          <a:xfrm>
            <a:off x="1618023" y="4791456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Rectangle 924"/>
          <p:cNvSpPr/>
          <p:nvPr/>
        </p:nvSpPr>
        <p:spPr>
          <a:xfrm>
            <a:off x="1681566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Rectangle 925"/>
          <p:cNvSpPr/>
          <p:nvPr/>
        </p:nvSpPr>
        <p:spPr>
          <a:xfrm>
            <a:off x="1745109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Rectangle 926"/>
          <p:cNvSpPr/>
          <p:nvPr/>
        </p:nvSpPr>
        <p:spPr>
          <a:xfrm>
            <a:off x="1808652" y="4791456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Rectangle 927"/>
          <p:cNvSpPr/>
          <p:nvPr/>
        </p:nvSpPr>
        <p:spPr>
          <a:xfrm>
            <a:off x="1872195" y="4791456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Rectangle 928"/>
          <p:cNvSpPr/>
          <p:nvPr/>
        </p:nvSpPr>
        <p:spPr>
          <a:xfrm>
            <a:off x="1935738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Rectangle 929"/>
          <p:cNvSpPr/>
          <p:nvPr/>
        </p:nvSpPr>
        <p:spPr>
          <a:xfrm>
            <a:off x="1999281" y="4791456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2062824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Rectangle 931"/>
          <p:cNvSpPr/>
          <p:nvPr/>
        </p:nvSpPr>
        <p:spPr>
          <a:xfrm>
            <a:off x="2126367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Rectangle 932"/>
          <p:cNvSpPr/>
          <p:nvPr/>
        </p:nvSpPr>
        <p:spPr>
          <a:xfrm>
            <a:off x="2189910" y="4791456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Rectangle 933"/>
          <p:cNvSpPr/>
          <p:nvPr/>
        </p:nvSpPr>
        <p:spPr>
          <a:xfrm>
            <a:off x="2253453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Rectangle 934"/>
          <p:cNvSpPr/>
          <p:nvPr/>
        </p:nvSpPr>
        <p:spPr>
          <a:xfrm>
            <a:off x="2316996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Rectangle 935"/>
          <p:cNvSpPr/>
          <p:nvPr/>
        </p:nvSpPr>
        <p:spPr>
          <a:xfrm>
            <a:off x="2380539" y="4791456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Rectangle 936"/>
          <p:cNvSpPr/>
          <p:nvPr/>
        </p:nvSpPr>
        <p:spPr>
          <a:xfrm>
            <a:off x="2444082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Rectangle 937"/>
          <p:cNvSpPr/>
          <p:nvPr/>
        </p:nvSpPr>
        <p:spPr>
          <a:xfrm>
            <a:off x="2507625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Rectangle 938"/>
          <p:cNvSpPr/>
          <p:nvPr/>
        </p:nvSpPr>
        <p:spPr>
          <a:xfrm>
            <a:off x="2571168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Rectangle 939"/>
          <p:cNvSpPr/>
          <p:nvPr/>
        </p:nvSpPr>
        <p:spPr>
          <a:xfrm>
            <a:off x="2634711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Rectangle 940"/>
          <p:cNvSpPr/>
          <p:nvPr/>
        </p:nvSpPr>
        <p:spPr>
          <a:xfrm>
            <a:off x="2698254" y="4791456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Rectangle 941"/>
          <p:cNvSpPr/>
          <p:nvPr/>
        </p:nvSpPr>
        <p:spPr>
          <a:xfrm>
            <a:off x="2761797" y="4791456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Rectangle 942"/>
          <p:cNvSpPr/>
          <p:nvPr/>
        </p:nvSpPr>
        <p:spPr>
          <a:xfrm>
            <a:off x="2825341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Rectangle 943"/>
          <p:cNvSpPr/>
          <p:nvPr/>
        </p:nvSpPr>
        <p:spPr>
          <a:xfrm>
            <a:off x="2888884" y="4791456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2952427" y="4791456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Rectangle 945"/>
          <p:cNvSpPr/>
          <p:nvPr/>
        </p:nvSpPr>
        <p:spPr>
          <a:xfrm>
            <a:off x="3015970" y="4791456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Rectangle 946"/>
          <p:cNvSpPr/>
          <p:nvPr/>
        </p:nvSpPr>
        <p:spPr>
          <a:xfrm>
            <a:off x="3079513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Rectangle 947"/>
          <p:cNvSpPr/>
          <p:nvPr/>
        </p:nvSpPr>
        <p:spPr>
          <a:xfrm>
            <a:off x="3143056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Rectangle 948"/>
          <p:cNvSpPr/>
          <p:nvPr/>
        </p:nvSpPr>
        <p:spPr>
          <a:xfrm>
            <a:off x="3206599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Rectangle 949"/>
          <p:cNvSpPr/>
          <p:nvPr/>
        </p:nvSpPr>
        <p:spPr>
          <a:xfrm>
            <a:off x="3270142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Rectangle 950"/>
          <p:cNvSpPr/>
          <p:nvPr/>
        </p:nvSpPr>
        <p:spPr>
          <a:xfrm>
            <a:off x="3333685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Rectangle 951"/>
          <p:cNvSpPr/>
          <p:nvPr/>
        </p:nvSpPr>
        <p:spPr>
          <a:xfrm>
            <a:off x="3397228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Rectangle 952"/>
          <p:cNvSpPr/>
          <p:nvPr/>
        </p:nvSpPr>
        <p:spPr>
          <a:xfrm>
            <a:off x="3460771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Rectangle 953"/>
          <p:cNvSpPr/>
          <p:nvPr/>
        </p:nvSpPr>
        <p:spPr>
          <a:xfrm>
            <a:off x="3524314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Rectangle 954"/>
          <p:cNvSpPr/>
          <p:nvPr/>
        </p:nvSpPr>
        <p:spPr>
          <a:xfrm>
            <a:off x="3587857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Rectangle 955"/>
          <p:cNvSpPr/>
          <p:nvPr/>
        </p:nvSpPr>
        <p:spPr>
          <a:xfrm>
            <a:off x="3651400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Rectangle 956"/>
          <p:cNvSpPr/>
          <p:nvPr/>
        </p:nvSpPr>
        <p:spPr>
          <a:xfrm>
            <a:off x="3714943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Rectangle 957"/>
          <p:cNvSpPr/>
          <p:nvPr/>
        </p:nvSpPr>
        <p:spPr>
          <a:xfrm>
            <a:off x="3778486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3842029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Rectangle 959"/>
          <p:cNvSpPr/>
          <p:nvPr/>
        </p:nvSpPr>
        <p:spPr>
          <a:xfrm>
            <a:off x="3905572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Rectangle 960"/>
          <p:cNvSpPr/>
          <p:nvPr/>
        </p:nvSpPr>
        <p:spPr>
          <a:xfrm>
            <a:off x="3969115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Rectangle 961"/>
          <p:cNvSpPr/>
          <p:nvPr/>
        </p:nvSpPr>
        <p:spPr>
          <a:xfrm>
            <a:off x="4032658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Rectangle 962"/>
          <p:cNvSpPr/>
          <p:nvPr/>
        </p:nvSpPr>
        <p:spPr>
          <a:xfrm>
            <a:off x="4096202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Rectangle 963"/>
          <p:cNvSpPr/>
          <p:nvPr/>
        </p:nvSpPr>
        <p:spPr>
          <a:xfrm>
            <a:off x="4159745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Rectangle 964"/>
          <p:cNvSpPr/>
          <p:nvPr/>
        </p:nvSpPr>
        <p:spPr>
          <a:xfrm>
            <a:off x="4223288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Rectangle 965"/>
          <p:cNvSpPr/>
          <p:nvPr/>
        </p:nvSpPr>
        <p:spPr>
          <a:xfrm>
            <a:off x="4286831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Rectangle 966"/>
          <p:cNvSpPr/>
          <p:nvPr/>
        </p:nvSpPr>
        <p:spPr>
          <a:xfrm>
            <a:off x="4350374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Rectangle 967"/>
          <p:cNvSpPr/>
          <p:nvPr/>
        </p:nvSpPr>
        <p:spPr>
          <a:xfrm>
            <a:off x="4413917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Rectangle 968"/>
          <p:cNvSpPr/>
          <p:nvPr/>
        </p:nvSpPr>
        <p:spPr>
          <a:xfrm>
            <a:off x="4477460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Rectangle 969"/>
          <p:cNvSpPr/>
          <p:nvPr/>
        </p:nvSpPr>
        <p:spPr>
          <a:xfrm>
            <a:off x="4541003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Rectangle 970"/>
          <p:cNvSpPr/>
          <p:nvPr/>
        </p:nvSpPr>
        <p:spPr>
          <a:xfrm>
            <a:off x="4604546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Rectangle 971"/>
          <p:cNvSpPr/>
          <p:nvPr/>
        </p:nvSpPr>
        <p:spPr>
          <a:xfrm>
            <a:off x="4668089" y="4791456"/>
            <a:ext cx="63543" cy="256032"/>
          </a:xfrm>
          <a:prstGeom prst="rect">
            <a:avLst/>
          </a:prstGeom>
          <a:solidFill>
            <a:srgbClr val="5C779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4731632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Rectangle 973"/>
          <p:cNvSpPr/>
          <p:nvPr/>
        </p:nvSpPr>
        <p:spPr>
          <a:xfrm>
            <a:off x="4795175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4858718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4922261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Rectangle 976"/>
          <p:cNvSpPr/>
          <p:nvPr/>
        </p:nvSpPr>
        <p:spPr>
          <a:xfrm>
            <a:off x="4985804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Rectangle 977"/>
          <p:cNvSpPr/>
          <p:nvPr/>
        </p:nvSpPr>
        <p:spPr>
          <a:xfrm>
            <a:off x="5049347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Rectangle 978"/>
          <p:cNvSpPr/>
          <p:nvPr/>
        </p:nvSpPr>
        <p:spPr>
          <a:xfrm>
            <a:off x="5112890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Rectangle 979"/>
          <p:cNvSpPr/>
          <p:nvPr/>
        </p:nvSpPr>
        <p:spPr>
          <a:xfrm>
            <a:off x="5176433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Rectangle 980"/>
          <p:cNvSpPr/>
          <p:nvPr/>
        </p:nvSpPr>
        <p:spPr>
          <a:xfrm>
            <a:off x="5239976" y="4791456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Rectangle 981"/>
          <p:cNvSpPr/>
          <p:nvPr/>
        </p:nvSpPr>
        <p:spPr>
          <a:xfrm>
            <a:off x="320040" y="5056632"/>
            <a:ext cx="1188720" cy="237744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320040" y="5047488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Lung Cancer</a:t>
            </a:r>
          </a:p>
        </p:txBody>
      </p:sp>
      <p:sp>
        <p:nvSpPr>
          <p:cNvPr id="984" name="Rectangle 983"/>
          <p:cNvSpPr/>
          <p:nvPr/>
        </p:nvSpPr>
        <p:spPr>
          <a:xfrm>
            <a:off x="1554480" y="5047488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Rectangle 984"/>
          <p:cNvSpPr/>
          <p:nvPr/>
        </p:nvSpPr>
        <p:spPr>
          <a:xfrm>
            <a:off x="1618023" y="5047488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Rectangle 985"/>
          <p:cNvSpPr/>
          <p:nvPr/>
        </p:nvSpPr>
        <p:spPr>
          <a:xfrm>
            <a:off x="1681566" y="5047488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1745109" y="5047488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Rectangle 987"/>
          <p:cNvSpPr/>
          <p:nvPr/>
        </p:nvSpPr>
        <p:spPr>
          <a:xfrm>
            <a:off x="1808652" y="5047488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1872195" y="5047488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1935738" y="5047488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Rectangle 990"/>
          <p:cNvSpPr/>
          <p:nvPr/>
        </p:nvSpPr>
        <p:spPr>
          <a:xfrm>
            <a:off x="1999281" y="5047488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Rectangle 991"/>
          <p:cNvSpPr/>
          <p:nvPr/>
        </p:nvSpPr>
        <p:spPr>
          <a:xfrm>
            <a:off x="2062824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Rectangle 992"/>
          <p:cNvSpPr/>
          <p:nvPr/>
        </p:nvSpPr>
        <p:spPr>
          <a:xfrm>
            <a:off x="2126367" y="5047488"/>
            <a:ext cx="63543" cy="256032"/>
          </a:xfrm>
          <a:prstGeom prst="rect">
            <a:avLst/>
          </a:prstGeom>
          <a:solidFill>
            <a:srgbClr val="7289A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Rectangle 993"/>
          <p:cNvSpPr/>
          <p:nvPr/>
        </p:nvSpPr>
        <p:spPr>
          <a:xfrm>
            <a:off x="2189910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Rectangle 994"/>
          <p:cNvSpPr/>
          <p:nvPr/>
        </p:nvSpPr>
        <p:spPr>
          <a:xfrm>
            <a:off x="2253453" y="5047488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Rectangle 995"/>
          <p:cNvSpPr/>
          <p:nvPr/>
        </p:nvSpPr>
        <p:spPr>
          <a:xfrm>
            <a:off x="2316996" y="5047488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Rectangle 996"/>
          <p:cNvSpPr/>
          <p:nvPr/>
        </p:nvSpPr>
        <p:spPr>
          <a:xfrm>
            <a:off x="2380539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Rectangle 997"/>
          <p:cNvSpPr/>
          <p:nvPr/>
        </p:nvSpPr>
        <p:spPr>
          <a:xfrm>
            <a:off x="2444082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Rectangle 998"/>
          <p:cNvSpPr/>
          <p:nvPr/>
        </p:nvSpPr>
        <p:spPr>
          <a:xfrm>
            <a:off x="2507625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Rectangle 999"/>
          <p:cNvSpPr/>
          <p:nvPr/>
        </p:nvSpPr>
        <p:spPr>
          <a:xfrm>
            <a:off x="2571168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2634711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Rectangle 1001"/>
          <p:cNvSpPr/>
          <p:nvPr/>
        </p:nvSpPr>
        <p:spPr>
          <a:xfrm>
            <a:off x="2698254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Rectangle 1002"/>
          <p:cNvSpPr/>
          <p:nvPr/>
        </p:nvSpPr>
        <p:spPr>
          <a:xfrm>
            <a:off x="2761797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Rectangle 1003"/>
          <p:cNvSpPr/>
          <p:nvPr/>
        </p:nvSpPr>
        <p:spPr>
          <a:xfrm>
            <a:off x="2825341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Rectangle 1004"/>
          <p:cNvSpPr/>
          <p:nvPr/>
        </p:nvSpPr>
        <p:spPr>
          <a:xfrm>
            <a:off x="2888884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Rectangle 1005"/>
          <p:cNvSpPr/>
          <p:nvPr/>
        </p:nvSpPr>
        <p:spPr>
          <a:xfrm>
            <a:off x="2952427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Rectangle 1006"/>
          <p:cNvSpPr/>
          <p:nvPr/>
        </p:nvSpPr>
        <p:spPr>
          <a:xfrm>
            <a:off x="3015970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Rectangle 1007"/>
          <p:cNvSpPr/>
          <p:nvPr/>
        </p:nvSpPr>
        <p:spPr>
          <a:xfrm>
            <a:off x="3079513" y="5047488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Rectangle 1008"/>
          <p:cNvSpPr/>
          <p:nvPr/>
        </p:nvSpPr>
        <p:spPr>
          <a:xfrm>
            <a:off x="3143056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Rectangle 1009"/>
          <p:cNvSpPr/>
          <p:nvPr/>
        </p:nvSpPr>
        <p:spPr>
          <a:xfrm>
            <a:off x="3206599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Rectangle 1010"/>
          <p:cNvSpPr/>
          <p:nvPr/>
        </p:nvSpPr>
        <p:spPr>
          <a:xfrm>
            <a:off x="3270142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Rectangle 1011"/>
          <p:cNvSpPr/>
          <p:nvPr/>
        </p:nvSpPr>
        <p:spPr>
          <a:xfrm>
            <a:off x="3333685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Rectangle 1012"/>
          <p:cNvSpPr/>
          <p:nvPr/>
        </p:nvSpPr>
        <p:spPr>
          <a:xfrm>
            <a:off x="3397228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Rectangle 1013"/>
          <p:cNvSpPr/>
          <p:nvPr/>
        </p:nvSpPr>
        <p:spPr>
          <a:xfrm>
            <a:off x="3460771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3524314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Rectangle 1015"/>
          <p:cNvSpPr/>
          <p:nvPr/>
        </p:nvSpPr>
        <p:spPr>
          <a:xfrm>
            <a:off x="3587857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Rectangle 1016"/>
          <p:cNvSpPr/>
          <p:nvPr/>
        </p:nvSpPr>
        <p:spPr>
          <a:xfrm>
            <a:off x="3651400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Rectangle 1017"/>
          <p:cNvSpPr/>
          <p:nvPr/>
        </p:nvSpPr>
        <p:spPr>
          <a:xfrm>
            <a:off x="3714943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Rectangle 1018"/>
          <p:cNvSpPr/>
          <p:nvPr/>
        </p:nvSpPr>
        <p:spPr>
          <a:xfrm>
            <a:off x="3778486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Rectangle 1019"/>
          <p:cNvSpPr/>
          <p:nvPr/>
        </p:nvSpPr>
        <p:spPr>
          <a:xfrm>
            <a:off x="3842029" y="5047488"/>
            <a:ext cx="63543" cy="256032"/>
          </a:xfrm>
          <a:prstGeom prst="rect">
            <a:avLst/>
          </a:prstGeom>
          <a:solidFill>
            <a:srgbClr val="5C779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Rectangle 1020"/>
          <p:cNvSpPr/>
          <p:nvPr/>
        </p:nvSpPr>
        <p:spPr>
          <a:xfrm>
            <a:off x="3905572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Rectangle 1021"/>
          <p:cNvSpPr/>
          <p:nvPr/>
        </p:nvSpPr>
        <p:spPr>
          <a:xfrm>
            <a:off x="3969115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Rectangle 1022"/>
          <p:cNvSpPr/>
          <p:nvPr/>
        </p:nvSpPr>
        <p:spPr>
          <a:xfrm>
            <a:off x="4032658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Rectangle 1023"/>
          <p:cNvSpPr/>
          <p:nvPr/>
        </p:nvSpPr>
        <p:spPr>
          <a:xfrm>
            <a:off x="4096202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Rectangle 1024"/>
          <p:cNvSpPr/>
          <p:nvPr/>
        </p:nvSpPr>
        <p:spPr>
          <a:xfrm>
            <a:off x="4159745" y="5047488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Rectangle 1025"/>
          <p:cNvSpPr/>
          <p:nvPr/>
        </p:nvSpPr>
        <p:spPr>
          <a:xfrm>
            <a:off x="4223288" y="5047488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Rectangle 1026"/>
          <p:cNvSpPr/>
          <p:nvPr/>
        </p:nvSpPr>
        <p:spPr>
          <a:xfrm>
            <a:off x="4286831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Rectangle 1027"/>
          <p:cNvSpPr/>
          <p:nvPr/>
        </p:nvSpPr>
        <p:spPr>
          <a:xfrm>
            <a:off x="4350374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4413917" y="5047488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Rectangle 1029"/>
          <p:cNvSpPr/>
          <p:nvPr/>
        </p:nvSpPr>
        <p:spPr>
          <a:xfrm>
            <a:off x="4477460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Rectangle 1030"/>
          <p:cNvSpPr/>
          <p:nvPr/>
        </p:nvSpPr>
        <p:spPr>
          <a:xfrm>
            <a:off x="4541003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Rectangle 1031"/>
          <p:cNvSpPr/>
          <p:nvPr/>
        </p:nvSpPr>
        <p:spPr>
          <a:xfrm>
            <a:off x="4604546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Rectangle 1032"/>
          <p:cNvSpPr/>
          <p:nvPr/>
        </p:nvSpPr>
        <p:spPr>
          <a:xfrm>
            <a:off x="4668089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Rectangle 1033"/>
          <p:cNvSpPr/>
          <p:nvPr/>
        </p:nvSpPr>
        <p:spPr>
          <a:xfrm>
            <a:off x="4731632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Rectangle 1034"/>
          <p:cNvSpPr/>
          <p:nvPr/>
        </p:nvSpPr>
        <p:spPr>
          <a:xfrm>
            <a:off x="4795175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Rectangle 1035"/>
          <p:cNvSpPr/>
          <p:nvPr/>
        </p:nvSpPr>
        <p:spPr>
          <a:xfrm>
            <a:off x="4858718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Rectangle 1036"/>
          <p:cNvSpPr/>
          <p:nvPr/>
        </p:nvSpPr>
        <p:spPr>
          <a:xfrm>
            <a:off x="4922261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Rectangle 1037"/>
          <p:cNvSpPr/>
          <p:nvPr/>
        </p:nvSpPr>
        <p:spPr>
          <a:xfrm>
            <a:off x="4985804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Rectangle 1038"/>
          <p:cNvSpPr/>
          <p:nvPr/>
        </p:nvSpPr>
        <p:spPr>
          <a:xfrm>
            <a:off x="5049347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Rectangle 1039"/>
          <p:cNvSpPr/>
          <p:nvPr/>
        </p:nvSpPr>
        <p:spPr>
          <a:xfrm>
            <a:off x="5112890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Rectangle 1040"/>
          <p:cNvSpPr/>
          <p:nvPr/>
        </p:nvSpPr>
        <p:spPr>
          <a:xfrm>
            <a:off x="5176433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Rectangle 1041"/>
          <p:cNvSpPr/>
          <p:nvPr/>
        </p:nvSpPr>
        <p:spPr>
          <a:xfrm>
            <a:off x="5239976" y="5047488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320040" y="5312664"/>
            <a:ext cx="1188720" cy="23774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320040" y="5303520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Melanoma</a:t>
            </a:r>
          </a:p>
        </p:txBody>
      </p:sp>
      <p:sp>
        <p:nvSpPr>
          <p:cNvPr id="1045" name="Rectangle 1044"/>
          <p:cNvSpPr/>
          <p:nvPr/>
        </p:nvSpPr>
        <p:spPr>
          <a:xfrm>
            <a:off x="1554480" y="5303520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Rectangle 1045"/>
          <p:cNvSpPr/>
          <p:nvPr/>
        </p:nvSpPr>
        <p:spPr>
          <a:xfrm>
            <a:off x="1618023" y="5303520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Rectangle 1046"/>
          <p:cNvSpPr/>
          <p:nvPr/>
        </p:nvSpPr>
        <p:spPr>
          <a:xfrm>
            <a:off x="1681566" y="5303520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Rectangle 1047"/>
          <p:cNvSpPr/>
          <p:nvPr/>
        </p:nvSpPr>
        <p:spPr>
          <a:xfrm>
            <a:off x="1745109" y="5303520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Rectangle 1048"/>
          <p:cNvSpPr/>
          <p:nvPr/>
        </p:nvSpPr>
        <p:spPr>
          <a:xfrm>
            <a:off x="1808652" y="5303520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Rectangle 1049"/>
          <p:cNvSpPr/>
          <p:nvPr/>
        </p:nvSpPr>
        <p:spPr>
          <a:xfrm>
            <a:off x="1872195" y="5303520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Rectangle 1050"/>
          <p:cNvSpPr/>
          <p:nvPr/>
        </p:nvSpPr>
        <p:spPr>
          <a:xfrm>
            <a:off x="1935738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Rectangle 1051"/>
          <p:cNvSpPr/>
          <p:nvPr/>
        </p:nvSpPr>
        <p:spPr>
          <a:xfrm>
            <a:off x="1999281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Rectangle 1052"/>
          <p:cNvSpPr/>
          <p:nvPr/>
        </p:nvSpPr>
        <p:spPr>
          <a:xfrm>
            <a:off x="2062824" y="5303520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Rectangle 1053"/>
          <p:cNvSpPr/>
          <p:nvPr/>
        </p:nvSpPr>
        <p:spPr>
          <a:xfrm>
            <a:off x="2126367" y="5303520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Rectangle 1054"/>
          <p:cNvSpPr/>
          <p:nvPr/>
        </p:nvSpPr>
        <p:spPr>
          <a:xfrm>
            <a:off x="2189910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Rectangle 1055"/>
          <p:cNvSpPr/>
          <p:nvPr/>
        </p:nvSpPr>
        <p:spPr>
          <a:xfrm>
            <a:off x="2253453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2316996" y="5303520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Rectangle 1057"/>
          <p:cNvSpPr/>
          <p:nvPr/>
        </p:nvSpPr>
        <p:spPr>
          <a:xfrm>
            <a:off x="2380539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Rectangle 1058"/>
          <p:cNvSpPr/>
          <p:nvPr/>
        </p:nvSpPr>
        <p:spPr>
          <a:xfrm>
            <a:off x="2444082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Rectangle 1059"/>
          <p:cNvSpPr/>
          <p:nvPr/>
        </p:nvSpPr>
        <p:spPr>
          <a:xfrm>
            <a:off x="2507625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Rectangle 1060"/>
          <p:cNvSpPr/>
          <p:nvPr/>
        </p:nvSpPr>
        <p:spPr>
          <a:xfrm>
            <a:off x="2571168" y="5303520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Rectangle 1061"/>
          <p:cNvSpPr/>
          <p:nvPr/>
        </p:nvSpPr>
        <p:spPr>
          <a:xfrm>
            <a:off x="2634711" y="5303520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Rectangle 1062"/>
          <p:cNvSpPr/>
          <p:nvPr/>
        </p:nvSpPr>
        <p:spPr>
          <a:xfrm>
            <a:off x="2698254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Rectangle 1063"/>
          <p:cNvSpPr/>
          <p:nvPr/>
        </p:nvSpPr>
        <p:spPr>
          <a:xfrm>
            <a:off x="2761797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Rectangle 1064"/>
          <p:cNvSpPr/>
          <p:nvPr/>
        </p:nvSpPr>
        <p:spPr>
          <a:xfrm>
            <a:off x="2825341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Rectangle 1065"/>
          <p:cNvSpPr/>
          <p:nvPr/>
        </p:nvSpPr>
        <p:spPr>
          <a:xfrm>
            <a:off x="2888884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Rectangle 1066"/>
          <p:cNvSpPr/>
          <p:nvPr/>
        </p:nvSpPr>
        <p:spPr>
          <a:xfrm>
            <a:off x="2952427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Rectangle 1067"/>
          <p:cNvSpPr/>
          <p:nvPr/>
        </p:nvSpPr>
        <p:spPr>
          <a:xfrm>
            <a:off x="3015970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Rectangle 1068"/>
          <p:cNvSpPr/>
          <p:nvPr/>
        </p:nvSpPr>
        <p:spPr>
          <a:xfrm>
            <a:off x="3079513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Rectangle 1069"/>
          <p:cNvSpPr/>
          <p:nvPr/>
        </p:nvSpPr>
        <p:spPr>
          <a:xfrm>
            <a:off x="3143056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Rectangle 1070"/>
          <p:cNvSpPr/>
          <p:nvPr/>
        </p:nvSpPr>
        <p:spPr>
          <a:xfrm>
            <a:off x="3206599" y="5303520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Rectangle 1071"/>
          <p:cNvSpPr/>
          <p:nvPr/>
        </p:nvSpPr>
        <p:spPr>
          <a:xfrm>
            <a:off x="3270142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Rectangle 1072"/>
          <p:cNvSpPr/>
          <p:nvPr/>
        </p:nvSpPr>
        <p:spPr>
          <a:xfrm>
            <a:off x="3333685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Rectangle 1073"/>
          <p:cNvSpPr/>
          <p:nvPr/>
        </p:nvSpPr>
        <p:spPr>
          <a:xfrm>
            <a:off x="3397228" y="5303520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Rectangle 1074"/>
          <p:cNvSpPr/>
          <p:nvPr/>
        </p:nvSpPr>
        <p:spPr>
          <a:xfrm>
            <a:off x="3460771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Rectangle 1075"/>
          <p:cNvSpPr/>
          <p:nvPr/>
        </p:nvSpPr>
        <p:spPr>
          <a:xfrm>
            <a:off x="3524314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Rectangle 1076"/>
          <p:cNvSpPr/>
          <p:nvPr/>
        </p:nvSpPr>
        <p:spPr>
          <a:xfrm>
            <a:off x="3587857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Rectangle 1077"/>
          <p:cNvSpPr/>
          <p:nvPr/>
        </p:nvSpPr>
        <p:spPr>
          <a:xfrm>
            <a:off x="3651400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Rectangle 1078"/>
          <p:cNvSpPr/>
          <p:nvPr/>
        </p:nvSpPr>
        <p:spPr>
          <a:xfrm>
            <a:off x="3714943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Rectangle 1079"/>
          <p:cNvSpPr/>
          <p:nvPr/>
        </p:nvSpPr>
        <p:spPr>
          <a:xfrm>
            <a:off x="3778486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Rectangle 1080"/>
          <p:cNvSpPr/>
          <p:nvPr/>
        </p:nvSpPr>
        <p:spPr>
          <a:xfrm>
            <a:off x="3842029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Rectangle 1081"/>
          <p:cNvSpPr/>
          <p:nvPr/>
        </p:nvSpPr>
        <p:spPr>
          <a:xfrm>
            <a:off x="3905572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Rectangle 1082"/>
          <p:cNvSpPr/>
          <p:nvPr/>
        </p:nvSpPr>
        <p:spPr>
          <a:xfrm>
            <a:off x="3969115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Rectangle 1083"/>
          <p:cNvSpPr/>
          <p:nvPr/>
        </p:nvSpPr>
        <p:spPr>
          <a:xfrm>
            <a:off x="4032658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Rectangle 1084"/>
          <p:cNvSpPr/>
          <p:nvPr/>
        </p:nvSpPr>
        <p:spPr>
          <a:xfrm>
            <a:off x="4096202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Rectangle 1085"/>
          <p:cNvSpPr/>
          <p:nvPr/>
        </p:nvSpPr>
        <p:spPr>
          <a:xfrm>
            <a:off x="4159745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Rectangle 1086"/>
          <p:cNvSpPr/>
          <p:nvPr/>
        </p:nvSpPr>
        <p:spPr>
          <a:xfrm>
            <a:off x="4223288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Rectangle 1087"/>
          <p:cNvSpPr/>
          <p:nvPr/>
        </p:nvSpPr>
        <p:spPr>
          <a:xfrm>
            <a:off x="4286831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Rectangle 1088"/>
          <p:cNvSpPr/>
          <p:nvPr/>
        </p:nvSpPr>
        <p:spPr>
          <a:xfrm>
            <a:off x="4350374" y="5303520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Rectangle 1089"/>
          <p:cNvSpPr/>
          <p:nvPr/>
        </p:nvSpPr>
        <p:spPr>
          <a:xfrm>
            <a:off x="4413917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Rectangle 1090"/>
          <p:cNvSpPr/>
          <p:nvPr/>
        </p:nvSpPr>
        <p:spPr>
          <a:xfrm>
            <a:off x="4477460" y="5303520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Rectangle 1091"/>
          <p:cNvSpPr/>
          <p:nvPr/>
        </p:nvSpPr>
        <p:spPr>
          <a:xfrm>
            <a:off x="4541003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Rectangle 1092"/>
          <p:cNvSpPr/>
          <p:nvPr/>
        </p:nvSpPr>
        <p:spPr>
          <a:xfrm>
            <a:off x="4604546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Rectangle 1093"/>
          <p:cNvSpPr/>
          <p:nvPr/>
        </p:nvSpPr>
        <p:spPr>
          <a:xfrm>
            <a:off x="4668089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Rectangle 1094"/>
          <p:cNvSpPr/>
          <p:nvPr/>
        </p:nvSpPr>
        <p:spPr>
          <a:xfrm>
            <a:off x="4731632" y="5303520"/>
            <a:ext cx="63543" cy="256032"/>
          </a:xfrm>
          <a:prstGeom prst="rect">
            <a:avLst/>
          </a:prstGeom>
          <a:solidFill>
            <a:srgbClr val="5C779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Rectangle 1095"/>
          <p:cNvSpPr/>
          <p:nvPr/>
        </p:nvSpPr>
        <p:spPr>
          <a:xfrm>
            <a:off x="4795175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Rectangle 1096"/>
          <p:cNvSpPr/>
          <p:nvPr/>
        </p:nvSpPr>
        <p:spPr>
          <a:xfrm>
            <a:off x="4858718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Rectangle 1097"/>
          <p:cNvSpPr/>
          <p:nvPr/>
        </p:nvSpPr>
        <p:spPr>
          <a:xfrm>
            <a:off x="4922261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Rectangle 1098"/>
          <p:cNvSpPr/>
          <p:nvPr/>
        </p:nvSpPr>
        <p:spPr>
          <a:xfrm>
            <a:off x="4985804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Rectangle 1099"/>
          <p:cNvSpPr/>
          <p:nvPr/>
        </p:nvSpPr>
        <p:spPr>
          <a:xfrm>
            <a:off x="5049347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Rectangle 1100"/>
          <p:cNvSpPr/>
          <p:nvPr/>
        </p:nvSpPr>
        <p:spPr>
          <a:xfrm>
            <a:off x="5112890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Rectangle 1101"/>
          <p:cNvSpPr/>
          <p:nvPr/>
        </p:nvSpPr>
        <p:spPr>
          <a:xfrm>
            <a:off x="5176433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Rectangle 1102"/>
          <p:cNvSpPr/>
          <p:nvPr/>
        </p:nvSpPr>
        <p:spPr>
          <a:xfrm>
            <a:off x="5239976" y="5303520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Rectangle 1103"/>
          <p:cNvSpPr/>
          <p:nvPr/>
        </p:nvSpPr>
        <p:spPr>
          <a:xfrm>
            <a:off x="320040" y="5568696"/>
            <a:ext cx="1188720" cy="237744"/>
          </a:xfrm>
          <a:prstGeom prst="rect">
            <a:avLst/>
          </a:prstGeom>
          <a:solidFill>
            <a:srgbClr val="99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TextBox 1104"/>
          <p:cNvSpPr txBox="1"/>
          <p:nvPr/>
        </p:nvSpPr>
        <p:spPr>
          <a:xfrm>
            <a:off x="320040" y="5559552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Thyroid Cancer</a:t>
            </a:r>
          </a:p>
        </p:txBody>
      </p:sp>
      <p:sp>
        <p:nvSpPr>
          <p:cNvPr id="1106" name="Rectangle 1105"/>
          <p:cNvSpPr/>
          <p:nvPr/>
        </p:nvSpPr>
        <p:spPr>
          <a:xfrm>
            <a:off x="1554480" y="5559552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Rectangle 1106"/>
          <p:cNvSpPr/>
          <p:nvPr/>
        </p:nvSpPr>
        <p:spPr>
          <a:xfrm>
            <a:off x="1618023" y="5559552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Rectangle 1107"/>
          <p:cNvSpPr/>
          <p:nvPr/>
        </p:nvSpPr>
        <p:spPr>
          <a:xfrm>
            <a:off x="1681566" y="5559552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Rectangle 1108"/>
          <p:cNvSpPr/>
          <p:nvPr/>
        </p:nvSpPr>
        <p:spPr>
          <a:xfrm>
            <a:off x="1745109" y="5559552"/>
            <a:ext cx="63543" cy="256032"/>
          </a:xfrm>
          <a:prstGeom prst="rect">
            <a:avLst/>
          </a:prstGeom>
          <a:solidFill>
            <a:srgbClr val="5C779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Rectangle 1109"/>
          <p:cNvSpPr/>
          <p:nvPr/>
        </p:nvSpPr>
        <p:spPr>
          <a:xfrm>
            <a:off x="1808652" y="5559552"/>
            <a:ext cx="63543" cy="256032"/>
          </a:xfrm>
          <a:prstGeom prst="rect">
            <a:avLst/>
          </a:prstGeom>
          <a:solidFill>
            <a:srgbClr val="91A4B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Rectangle 1110"/>
          <p:cNvSpPr/>
          <p:nvPr/>
        </p:nvSpPr>
        <p:spPr>
          <a:xfrm>
            <a:off x="1872195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Rectangle 1111"/>
          <p:cNvSpPr/>
          <p:nvPr/>
        </p:nvSpPr>
        <p:spPr>
          <a:xfrm>
            <a:off x="1935738" y="5559552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Rectangle 1112"/>
          <p:cNvSpPr/>
          <p:nvPr/>
        </p:nvSpPr>
        <p:spPr>
          <a:xfrm>
            <a:off x="1999281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Rectangle 1113"/>
          <p:cNvSpPr/>
          <p:nvPr/>
        </p:nvSpPr>
        <p:spPr>
          <a:xfrm>
            <a:off x="2062824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Rectangle 1114"/>
          <p:cNvSpPr/>
          <p:nvPr/>
        </p:nvSpPr>
        <p:spPr>
          <a:xfrm>
            <a:off x="2126367" y="5559552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Rectangle 1115"/>
          <p:cNvSpPr/>
          <p:nvPr/>
        </p:nvSpPr>
        <p:spPr>
          <a:xfrm>
            <a:off x="2189910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Rectangle 1116"/>
          <p:cNvSpPr/>
          <p:nvPr/>
        </p:nvSpPr>
        <p:spPr>
          <a:xfrm>
            <a:off x="2253453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Rectangle 1117"/>
          <p:cNvSpPr/>
          <p:nvPr/>
        </p:nvSpPr>
        <p:spPr>
          <a:xfrm>
            <a:off x="2316996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Rectangle 1118"/>
          <p:cNvSpPr/>
          <p:nvPr/>
        </p:nvSpPr>
        <p:spPr>
          <a:xfrm>
            <a:off x="2380539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Rectangle 1119"/>
          <p:cNvSpPr/>
          <p:nvPr/>
        </p:nvSpPr>
        <p:spPr>
          <a:xfrm>
            <a:off x="2444082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Rectangle 1120"/>
          <p:cNvSpPr/>
          <p:nvPr/>
        </p:nvSpPr>
        <p:spPr>
          <a:xfrm>
            <a:off x="2507625" y="5559552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Rectangle 1121"/>
          <p:cNvSpPr/>
          <p:nvPr/>
        </p:nvSpPr>
        <p:spPr>
          <a:xfrm>
            <a:off x="2571168" y="5559552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Rectangle 1122"/>
          <p:cNvSpPr/>
          <p:nvPr/>
        </p:nvSpPr>
        <p:spPr>
          <a:xfrm>
            <a:off x="2634711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Rectangle 1123"/>
          <p:cNvSpPr/>
          <p:nvPr/>
        </p:nvSpPr>
        <p:spPr>
          <a:xfrm>
            <a:off x="2698254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Rectangle 1124"/>
          <p:cNvSpPr/>
          <p:nvPr/>
        </p:nvSpPr>
        <p:spPr>
          <a:xfrm>
            <a:off x="2761797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Rectangle 1125"/>
          <p:cNvSpPr/>
          <p:nvPr/>
        </p:nvSpPr>
        <p:spPr>
          <a:xfrm>
            <a:off x="2825341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Rectangle 1126"/>
          <p:cNvSpPr/>
          <p:nvPr/>
        </p:nvSpPr>
        <p:spPr>
          <a:xfrm>
            <a:off x="2888884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Rectangle 1127"/>
          <p:cNvSpPr/>
          <p:nvPr/>
        </p:nvSpPr>
        <p:spPr>
          <a:xfrm>
            <a:off x="2952427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Rectangle 1128"/>
          <p:cNvSpPr/>
          <p:nvPr/>
        </p:nvSpPr>
        <p:spPr>
          <a:xfrm>
            <a:off x="3015970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Rectangle 1129"/>
          <p:cNvSpPr/>
          <p:nvPr/>
        </p:nvSpPr>
        <p:spPr>
          <a:xfrm>
            <a:off x="3079513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Rectangle 1130"/>
          <p:cNvSpPr/>
          <p:nvPr/>
        </p:nvSpPr>
        <p:spPr>
          <a:xfrm>
            <a:off x="3143056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Rectangle 1131"/>
          <p:cNvSpPr/>
          <p:nvPr/>
        </p:nvSpPr>
        <p:spPr>
          <a:xfrm>
            <a:off x="3206599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Rectangle 1132"/>
          <p:cNvSpPr/>
          <p:nvPr/>
        </p:nvSpPr>
        <p:spPr>
          <a:xfrm>
            <a:off x="3270142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Rectangle 1133"/>
          <p:cNvSpPr/>
          <p:nvPr/>
        </p:nvSpPr>
        <p:spPr>
          <a:xfrm>
            <a:off x="3333685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Rectangle 1134"/>
          <p:cNvSpPr/>
          <p:nvPr/>
        </p:nvSpPr>
        <p:spPr>
          <a:xfrm>
            <a:off x="3397228" y="5559552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Rectangle 1135"/>
          <p:cNvSpPr/>
          <p:nvPr/>
        </p:nvSpPr>
        <p:spPr>
          <a:xfrm>
            <a:off x="3460771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Rectangle 1136"/>
          <p:cNvSpPr/>
          <p:nvPr/>
        </p:nvSpPr>
        <p:spPr>
          <a:xfrm>
            <a:off x="3524314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Rectangle 1137"/>
          <p:cNvSpPr/>
          <p:nvPr/>
        </p:nvSpPr>
        <p:spPr>
          <a:xfrm>
            <a:off x="3587857" y="5559552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Rectangle 1138"/>
          <p:cNvSpPr/>
          <p:nvPr/>
        </p:nvSpPr>
        <p:spPr>
          <a:xfrm>
            <a:off x="3651400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Rectangle 1139"/>
          <p:cNvSpPr/>
          <p:nvPr/>
        </p:nvSpPr>
        <p:spPr>
          <a:xfrm>
            <a:off x="3714943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Rectangle 1140"/>
          <p:cNvSpPr/>
          <p:nvPr/>
        </p:nvSpPr>
        <p:spPr>
          <a:xfrm>
            <a:off x="3778486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Rectangle 1141"/>
          <p:cNvSpPr/>
          <p:nvPr/>
        </p:nvSpPr>
        <p:spPr>
          <a:xfrm>
            <a:off x="3842029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Rectangle 1142"/>
          <p:cNvSpPr/>
          <p:nvPr/>
        </p:nvSpPr>
        <p:spPr>
          <a:xfrm>
            <a:off x="3905572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Rectangle 1143"/>
          <p:cNvSpPr/>
          <p:nvPr/>
        </p:nvSpPr>
        <p:spPr>
          <a:xfrm>
            <a:off x="3969115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Rectangle 1144"/>
          <p:cNvSpPr/>
          <p:nvPr/>
        </p:nvSpPr>
        <p:spPr>
          <a:xfrm>
            <a:off x="4032658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Rectangle 1145"/>
          <p:cNvSpPr/>
          <p:nvPr/>
        </p:nvSpPr>
        <p:spPr>
          <a:xfrm>
            <a:off x="4096202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Rectangle 1146"/>
          <p:cNvSpPr/>
          <p:nvPr/>
        </p:nvSpPr>
        <p:spPr>
          <a:xfrm>
            <a:off x="4159745" y="5559552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Rectangle 1147"/>
          <p:cNvSpPr/>
          <p:nvPr/>
        </p:nvSpPr>
        <p:spPr>
          <a:xfrm>
            <a:off x="4223288" y="5559552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Rectangle 1148"/>
          <p:cNvSpPr/>
          <p:nvPr/>
        </p:nvSpPr>
        <p:spPr>
          <a:xfrm>
            <a:off x="4286831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Rectangle 1149"/>
          <p:cNvSpPr/>
          <p:nvPr/>
        </p:nvSpPr>
        <p:spPr>
          <a:xfrm>
            <a:off x="4350374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Rectangle 1150"/>
          <p:cNvSpPr/>
          <p:nvPr/>
        </p:nvSpPr>
        <p:spPr>
          <a:xfrm>
            <a:off x="4413917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Rectangle 1151"/>
          <p:cNvSpPr/>
          <p:nvPr/>
        </p:nvSpPr>
        <p:spPr>
          <a:xfrm>
            <a:off x="4477460" y="5559552"/>
            <a:ext cx="63543" cy="256032"/>
          </a:xfrm>
          <a:prstGeom prst="rect">
            <a:avLst/>
          </a:prstGeom>
          <a:solidFill>
            <a:srgbClr val="526E9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Rectangle 1152"/>
          <p:cNvSpPr/>
          <p:nvPr/>
        </p:nvSpPr>
        <p:spPr>
          <a:xfrm>
            <a:off x="4541003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Rectangle 1153"/>
          <p:cNvSpPr/>
          <p:nvPr/>
        </p:nvSpPr>
        <p:spPr>
          <a:xfrm>
            <a:off x="4604546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Rectangle 1154"/>
          <p:cNvSpPr/>
          <p:nvPr/>
        </p:nvSpPr>
        <p:spPr>
          <a:xfrm>
            <a:off x="4668089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Rectangle 1155"/>
          <p:cNvSpPr/>
          <p:nvPr/>
        </p:nvSpPr>
        <p:spPr>
          <a:xfrm>
            <a:off x="4731632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Rectangle 1156"/>
          <p:cNvSpPr/>
          <p:nvPr/>
        </p:nvSpPr>
        <p:spPr>
          <a:xfrm>
            <a:off x="4795175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Rectangle 1157"/>
          <p:cNvSpPr/>
          <p:nvPr/>
        </p:nvSpPr>
        <p:spPr>
          <a:xfrm>
            <a:off x="4858718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Rectangle 1158"/>
          <p:cNvSpPr/>
          <p:nvPr/>
        </p:nvSpPr>
        <p:spPr>
          <a:xfrm>
            <a:off x="4922261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Rectangle 1159"/>
          <p:cNvSpPr/>
          <p:nvPr/>
        </p:nvSpPr>
        <p:spPr>
          <a:xfrm>
            <a:off x="4985804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Rectangle 1160"/>
          <p:cNvSpPr/>
          <p:nvPr/>
        </p:nvSpPr>
        <p:spPr>
          <a:xfrm>
            <a:off x="5049347" y="5559552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Rectangle 1161"/>
          <p:cNvSpPr/>
          <p:nvPr/>
        </p:nvSpPr>
        <p:spPr>
          <a:xfrm>
            <a:off x="5112890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Rectangle 1162"/>
          <p:cNvSpPr/>
          <p:nvPr/>
        </p:nvSpPr>
        <p:spPr>
          <a:xfrm>
            <a:off x="5176433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Rectangle 1163"/>
          <p:cNvSpPr/>
          <p:nvPr/>
        </p:nvSpPr>
        <p:spPr>
          <a:xfrm>
            <a:off x="5239976" y="5559552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Rectangle 1164"/>
          <p:cNvSpPr/>
          <p:nvPr/>
        </p:nvSpPr>
        <p:spPr>
          <a:xfrm>
            <a:off x="320040" y="5824728"/>
            <a:ext cx="1188720" cy="2377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TextBox 1165"/>
          <p:cNvSpPr txBox="1"/>
          <p:nvPr/>
        </p:nvSpPr>
        <p:spPr>
          <a:xfrm>
            <a:off x="320040" y="5815584"/>
            <a:ext cx="11338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Brain Cancer</a:t>
            </a:r>
          </a:p>
        </p:txBody>
      </p:sp>
      <p:sp>
        <p:nvSpPr>
          <p:cNvPr id="1167" name="Rectangle 1166"/>
          <p:cNvSpPr/>
          <p:nvPr/>
        </p:nvSpPr>
        <p:spPr>
          <a:xfrm>
            <a:off x="1554480" y="5815584"/>
            <a:ext cx="63543" cy="256032"/>
          </a:xfrm>
          <a:prstGeom prst="rect">
            <a:avLst/>
          </a:prstGeom>
          <a:solidFill>
            <a:srgbClr val="133971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Rectangle 1167"/>
          <p:cNvSpPr/>
          <p:nvPr/>
        </p:nvSpPr>
        <p:spPr>
          <a:xfrm>
            <a:off x="1618023" y="5815584"/>
            <a:ext cx="63543" cy="256032"/>
          </a:xfrm>
          <a:prstGeom prst="rect">
            <a:avLst/>
          </a:prstGeom>
          <a:solidFill>
            <a:srgbClr val="3D5D8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Rectangle 1168"/>
          <p:cNvSpPr/>
          <p:nvPr/>
        </p:nvSpPr>
        <p:spPr>
          <a:xfrm>
            <a:off x="1681566" y="5815584"/>
            <a:ext cx="63543" cy="256032"/>
          </a:xfrm>
          <a:prstGeom prst="rect">
            <a:avLst/>
          </a:prstGeom>
          <a:solidFill>
            <a:srgbClr val="47659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Rectangle 1169"/>
          <p:cNvSpPr/>
          <p:nvPr/>
        </p:nvSpPr>
        <p:spPr>
          <a:xfrm>
            <a:off x="1745109" y="5815584"/>
            <a:ext cx="63543" cy="256032"/>
          </a:xfrm>
          <a:prstGeom prst="rect">
            <a:avLst/>
          </a:prstGeom>
          <a:solidFill>
            <a:srgbClr val="7C92B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Rectangle 1170"/>
          <p:cNvSpPr/>
          <p:nvPr/>
        </p:nvSpPr>
        <p:spPr>
          <a:xfrm>
            <a:off x="1808652" y="5815584"/>
            <a:ext cx="63543" cy="256032"/>
          </a:xfrm>
          <a:prstGeom prst="rect">
            <a:avLst/>
          </a:prstGeom>
          <a:solidFill>
            <a:srgbClr val="6780A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Rectangle 1171"/>
          <p:cNvSpPr/>
          <p:nvPr/>
        </p:nvSpPr>
        <p:spPr>
          <a:xfrm>
            <a:off x="1872195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Rectangle 1172"/>
          <p:cNvSpPr/>
          <p:nvPr/>
        </p:nvSpPr>
        <p:spPr>
          <a:xfrm>
            <a:off x="1935738" y="5815584"/>
            <a:ext cx="63543" cy="256032"/>
          </a:xfrm>
          <a:prstGeom prst="rect">
            <a:avLst/>
          </a:prstGeom>
          <a:solidFill>
            <a:srgbClr val="1D427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Rectangle 1173"/>
          <p:cNvSpPr/>
          <p:nvPr/>
        </p:nvSpPr>
        <p:spPr>
          <a:xfrm>
            <a:off x="1999281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Rectangle 1174"/>
          <p:cNvSpPr/>
          <p:nvPr/>
        </p:nvSpPr>
        <p:spPr>
          <a:xfrm>
            <a:off x="2062824" y="5815584"/>
            <a:ext cx="63543" cy="256032"/>
          </a:xfrm>
          <a:prstGeom prst="rect">
            <a:avLst/>
          </a:prstGeom>
          <a:solidFill>
            <a:srgbClr val="D1D9E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Rectangle 1175"/>
          <p:cNvSpPr/>
          <p:nvPr/>
        </p:nvSpPr>
        <p:spPr>
          <a:xfrm>
            <a:off x="2126367" y="5815584"/>
            <a:ext cx="63543" cy="256032"/>
          </a:xfrm>
          <a:prstGeom prst="rect">
            <a:avLst/>
          </a:prstGeom>
          <a:solidFill>
            <a:srgbClr val="C6D0D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Rectangle 1176"/>
          <p:cNvSpPr/>
          <p:nvPr/>
        </p:nvSpPr>
        <p:spPr>
          <a:xfrm>
            <a:off x="2189910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Rectangle 1177"/>
          <p:cNvSpPr/>
          <p:nvPr/>
        </p:nvSpPr>
        <p:spPr>
          <a:xfrm>
            <a:off x="2253453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Rectangle 1178"/>
          <p:cNvSpPr/>
          <p:nvPr/>
        </p:nvSpPr>
        <p:spPr>
          <a:xfrm>
            <a:off x="2316996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Rectangle 1179"/>
          <p:cNvSpPr/>
          <p:nvPr/>
        </p:nvSpPr>
        <p:spPr>
          <a:xfrm>
            <a:off x="2380539" y="5815584"/>
            <a:ext cx="63543" cy="256032"/>
          </a:xfrm>
          <a:prstGeom prst="rect">
            <a:avLst/>
          </a:prstGeom>
          <a:solidFill>
            <a:srgbClr val="879BB8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Rectangle 1180"/>
          <p:cNvSpPr/>
          <p:nvPr/>
        </p:nvSpPr>
        <p:spPr>
          <a:xfrm>
            <a:off x="2444082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Rectangle 1181"/>
          <p:cNvSpPr/>
          <p:nvPr/>
        </p:nvSpPr>
        <p:spPr>
          <a:xfrm>
            <a:off x="2507625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Rectangle 1182"/>
          <p:cNvSpPr/>
          <p:nvPr/>
        </p:nvSpPr>
        <p:spPr>
          <a:xfrm>
            <a:off x="2571168" y="5815584"/>
            <a:ext cx="63543" cy="256032"/>
          </a:xfrm>
          <a:prstGeom prst="rect">
            <a:avLst/>
          </a:prstGeom>
          <a:solidFill>
            <a:srgbClr val="284B7E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Rectangle 1183"/>
          <p:cNvSpPr/>
          <p:nvPr/>
        </p:nvSpPr>
        <p:spPr>
          <a:xfrm>
            <a:off x="2634711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Rectangle 1184"/>
          <p:cNvSpPr/>
          <p:nvPr/>
        </p:nvSpPr>
        <p:spPr>
          <a:xfrm>
            <a:off x="2698254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Rectangle 1185"/>
          <p:cNvSpPr/>
          <p:nvPr/>
        </p:nvSpPr>
        <p:spPr>
          <a:xfrm>
            <a:off x="2761797" y="5815584"/>
            <a:ext cx="63543" cy="256032"/>
          </a:xfrm>
          <a:prstGeom prst="rect">
            <a:avLst/>
          </a:prstGeom>
          <a:solidFill>
            <a:srgbClr val="9CADC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Rectangle 1186"/>
          <p:cNvSpPr/>
          <p:nvPr/>
        </p:nvSpPr>
        <p:spPr>
          <a:xfrm>
            <a:off x="2825341" y="5815584"/>
            <a:ext cx="63543" cy="256032"/>
          </a:xfrm>
          <a:prstGeom prst="rect">
            <a:avLst/>
          </a:prstGeom>
          <a:solidFill>
            <a:srgbClr val="BBC7D9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Rectangle 1187"/>
          <p:cNvSpPr/>
          <p:nvPr/>
        </p:nvSpPr>
        <p:spPr>
          <a:xfrm>
            <a:off x="2888884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Rectangle 1188"/>
          <p:cNvSpPr/>
          <p:nvPr/>
        </p:nvSpPr>
        <p:spPr>
          <a:xfrm>
            <a:off x="2952427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Rectangle 1189"/>
          <p:cNvSpPr/>
          <p:nvPr/>
        </p:nvSpPr>
        <p:spPr>
          <a:xfrm>
            <a:off x="3015970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Rectangle 1190"/>
          <p:cNvSpPr/>
          <p:nvPr/>
        </p:nvSpPr>
        <p:spPr>
          <a:xfrm>
            <a:off x="3079513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Rectangle 1191"/>
          <p:cNvSpPr/>
          <p:nvPr/>
        </p:nvSpPr>
        <p:spPr>
          <a:xfrm>
            <a:off x="3143056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Rectangle 1192"/>
          <p:cNvSpPr/>
          <p:nvPr/>
        </p:nvSpPr>
        <p:spPr>
          <a:xfrm>
            <a:off x="3206599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Rectangle 1193"/>
          <p:cNvSpPr/>
          <p:nvPr/>
        </p:nvSpPr>
        <p:spPr>
          <a:xfrm>
            <a:off x="3270142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Rectangle 1194"/>
          <p:cNvSpPr/>
          <p:nvPr/>
        </p:nvSpPr>
        <p:spPr>
          <a:xfrm>
            <a:off x="3333685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Rectangle 1195"/>
          <p:cNvSpPr/>
          <p:nvPr/>
        </p:nvSpPr>
        <p:spPr>
          <a:xfrm>
            <a:off x="3397228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Rectangle 1196"/>
          <p:cNvSpPr/>
          <p:nvPr/>
        </p:nvSpPr>
        <p:spPr>
          <a:xfrm>
            <a:off x="3460771" y="5815584"/>
            <a:ext cx="63543" cy="256032"/>
          </a:xfrm>
          <a:prstGeom prst="rect">
            <a:avLst/>
          </a:prstGeom>
          <a:solidFill>
            <a:srgbClr val="325485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Rectangle 1197"/>
          <p:cNvSpPr/>
          <p:nvPr/>
        </p:nvSpPr>
        <p:spPr>
          <a:xfrm>
            <a:off x="3524314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Rectangle 1198"/>
          <p:cNvSpPr/>
          <p:nvPr/>
        </p:nvSpPr>
        <p:spPr>
          <a:xfrm>
            <a:off x="3587857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Rectangle 1199"/>
          <p:cNvSpPr/>
          <p:nvPr/>
        </p:nvSpPr>
        <p:spPr>
          <a:xfrm>
            <a:off x="3651400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Rectangle 1200"/>
          <p:cNvSpPr/>
          <p:nvPr/>
        </p:nvSpPr>
        <p:spPr>
          <a:xfrm>
            <a:off x="3714943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Rectangle 1201"/>
          <p:cNvSpPr/>
          <p:nvPr/>
        </p:nvSpPr>
        <p:spPr>
          <a:xfrm>
            <a:off x="3778486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Rectangle 1202"/>
          <p:cNvSpPr/>
          <p:nvPr/>
        </p:nvSpPr>
        <p:spPr>
          <a:xfrm>
            <a:off x="3842029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Rectangle 1203"/>
          <p:cNvSpPr/>
          <p:nvPr/>
        </p:nvSpPr>
        <p:spPr>
          <a:xfrm>
            <a:off x="3905572" y="5815584"/>
            <a:ext cx="63543" cy="256032"/>
          </a:xfrm>
          <a:prstGeom prst="rect">
            <a:avLst/>
          </a:prstGeom>
          <a:solidFill>
            <a:srgbClr val="B1BED2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Rectangle 1204"/>
          <p:cNvSpPr/>
          <p:nvPr/>
        </p:nvSpPr>
        <p:spPr>
          <a:xfrm>
            <a:off x="3969115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Rectangle 1205"/>
          <p:cNvSpPr/>
          <p:nvPr/>
        </p:nvSpPr>
        <p:spPr>
          <a:xfrm>
            <a:off x="4032658" y="5815584"/>
            <a:ext cx="63543" cy="256032"/>
          </a:xfrm>
          <a:prstGeom prst="rect">
            <a:avLst/>
          </a:prstGeom>
          <a:solidFill>
            <a:srgbClr val="08306B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Rectangle 1206"/>
          <p:cNvSpPr/>
          <p:nvPr/>
        </p:nvSpPr>
        <p:spPr>
          <a:xfrm>
            <a:off x="4096202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Rectangle 1207"/>
          <p:cNvSpPr/>
          <p:nvPr/>
        </p:nvSpPr>
        <p:spPr>
          <a:xfrm>
            <a:off x="4159745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Rectangle 1208"/>
          <p:cNvSpPr/>
          <p:nvPr/>
        </p:nvSpPr>
        <p:spPr>
          <a:xfrm>
            <a:off x="4223288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Rectangle 1209"/>
          <p:cNvSpPr/>
          <p:nvPr/>
        </p:nvSpPr>
        <p:spPr>
          <a:xfrm>
            <a:off x="4286831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Rectangle 1210"/>
          <p:cNvSpPr/>
          <p:nvPr/>
        </p:nvSpPr>
        <p:spPr>
          <a:xfrm>
            <a:off x="4350374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Rectangle 1211"/>
          <p:cNvSpPr/>
          <p:nvPr/>
        </p:nvSpPr>
        <p:spPr>
          <a:xfrm>
            <a:off x="4413917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Rectangle 1212"/>
          <p:cNvSpPr/>
          <p:nvPr/>
        </p:nvSpPr>
        <p:spPr>
          <a:xfrm>
            <a:off x="4477460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Rectangle 1213"/>
          <p:cNvSpPr/>
          <p:nvPr/>
        </p:nvSpPr>
        <p:spPr>
          <a:xfrm>
            <a:off x="4541003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Rectangle 1214"/>
          <p:cNvSpPr/>
          <p:nvPr/>
        </p:nvSpPr>
        <p:spPr>
          <a:xfrm>
            <a:off x="4604546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Rectangle 1215"/>
          <p:cNvSpPr/>
          <p:nvPr/>
        </p:nvSpPr>
        <p:spPr>
          <a:xfrm>
            <a:off x="4668089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Rectangle 1216"/>
          <p:cNvSpPr/>
          <p:nvPr/>
        </p:nvSpPr>
        <p:spPr>
          <a:xfrm>
            <a:off x="4731632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Rectangle 1217"/>
          <p:cNvSpPr/>
          <p:nvPr/>
        </p:nvSpPr>
        <p:spPr>
          <a:xfrm>
            <a:off x="4795175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Rectangle 1218"/>
          <p:cNvSpPr/>
          <p:nvPr/>
        </p:nvSpPr>
        <p:spPr>
          <a:xfrm>
            <a:off x="4858718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Rectangle 1219"/>
          <p:cNvSpPr/>
          <p:nvPr/>
        </p:nvSpPr>
        <p:spPr>
          <a:xfrm>
            <a:off x="4922261" y="5815584"/>
            <a:ext cx="63543" cy="256032"/>
          </a:xfrm>
          <a:prstGeom prst="rect">
            <a:avLst/>
          </a:prstGeom>
          <a:solidFill>
            <a:srgbClr val="A6B6CC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Rectangle 1220"/>
          <p:cNvSpPr/>
          <p:nvPr/>
        </p:nvSpPr>
        <p:spPr>
          <a:xfrm>
            <a:off x="4985804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Rectangle 1221"/>
          <p:cNvSpPr/>
          <p:nvPr/>
        </p:nvSpPr>
        <p:spPr>
          <a:xfrm>
            <a:off x="5049347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Rectangle 1222"/>
          <p:cNvSpPr/>
          <p:nvPr/>
        </p:nvSpPr>
        <p:spPr>
          <a:xfrm>
            <a:off x="5112890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Rectangle 1223"/>
          <p:cNvSpPr/>
          <p:nvPr/>
        </p:nvSpPr>
        <p:spPr>
          <a:xfrm>
            <a:off x="5176433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Rectangle 1224"/>
          <p:cNvSpPr/>
          <p:nvPr/>
        </p:nvSpPr>
        <p:spPr>
          <a:xfrm>
            <a:off x="5239976" y="5815584"/>
            <a:ext cx="63543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Rectangle 1225"/>
          <p:cNvSpPr/>
          <p:nvPr/>
        </p:nvSpPr>
        <p:spPr>
          <a:xfrm>
            <a:off x="1554480" y="1207008"/>
            <a:ext cx="3749040" cy="4864608"/>
          </a:xfrm>
          <a:prstGeom prst="rect">
            <a:avLst/>
          </a:prstGeom>
          <a:noFill/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7" name="Connector 1226"/>
          <p:cNvCxnSpPr/>
          <p:nvPr/>
        </p:nvCxnSpPr>
        <p:spPr>
          <a:xfrm>
            <a:off x="4922261" y="667512"/>
            <a:ext cx="0" cy="5404104"/>
          </a:xfrm>
          <a:prstGeom prst="line">
            <a:avLst/>
          </a:prstGeom>
          <a:ln w="12700">
            <a:solidFill>
              <a:srgbClr val="D55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TextBox 1227"/>
          <p:cNvSpPr txBox="1"/>
          <p:nvPr/>
        </p:nvSpPr>
        <p:spPr>
          <a:xfrm rot="16200000">
            <a:off x="1311931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222222"/>
                </a:solidFill>
                <a:latin typeface="Arial"/>
              </a:rPr>
              <a:t>TP53</a:t>
            </a:r>
          </a:p>
        </p:txBody>
      </p:sp>
      <p:cxnSp>
        <p:nvCxnSpPr>
          <p:cNvPr id="1229" name="Connector 1228"/>
          <p:cNvCxnSpPr/>
          <p:nvPr/>
        </p:nvCxnSpPr>
        <p:spPr>
          <a:xfrm>
            <a:off x="1649794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0" name="TextBox 1229"/>
          <p:cNvSpPr txBox="1"/>
          <p:nvPr/>
        </p:nvSpPr>
        <p:spPr>
          <a:xfrm rot="16200000">
            <a:off x="1375474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222222"/>
                </a:solidFill>
                <a:latin typeface="Arial"/>
              </a:rPr>
              <a:t>BRAF</a:t>
            </a:r>
          </a:p>
        </p:txBody>
      </p:sp>
      <p:sp>
        <p:nvSpPr>
          <p:cNvPr id="1231" name="TextBox 1230"/>
          <p:cNvSpPr txBox="1"/>
          <p:nvPr/>
        </p:nvSpPr>
        <p:spPr>
          <a:xfrm rot="16200000">
            <a:off x="1439017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222222"/>
                </a:solidFill>
                <a:latin typeface="Arial"/>
              </a:rPr>
              <a:t>KRAS</a:t>
            </a:r>
          </a:p>
        </p:txBody>
      </p:sp>
      <p:cxnSp>
        <p:nvCxnSpPr>
          <p:cNvPr id="1232" name="Connector 1231"/>
          <p:cNvCxnSpPr/>
          <p:nvPr/>
        </p:nvCxnSpPr>
        <p:spPr>
          <a:xfrm>
            <a:off x="1776880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3" name="TextBox 1232"/>
          <p:cNvSpPr txBox="1"/>
          <p:nvPr/>
        </p:nvSpPr>
        <p:spPr>
          <a:xfrm rot="16200000">
            <a:off x="1502560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222222"/>
                </a:solidFill>
                <a:latin typeface="Arial"/>
              </a:rPr>
              <a:t>PIK3CA</a:t>
            </a:r>
          </a:p>
        </p:txBody>
      </p:sp>
      <p:sp>
        <p:nvSpPr>
          <p:cNvPr id="1234" name="TextBox 1233"/>
          <p:cNvSpPr txBox="1"/>
          <p:nvPr/>
        </p:nvSpPr>
        <p:spPr>
          <a:xfrm rot="16200000">
            <a:off x="1566103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222222"/>
                </a:solidFill>
                <a:latin typeface="Arial"/>
              </a:rPr>
              <a:t>PTEN</a:t>
            </a:r>
          </a:p>
        </p:txBody>
      </p:sp>
      <p:cxnSp>
        <p:nvCxnSpPr>
          <p:cNvPr id="1235" name="Connector 1234"/>
          <p:cNvCxnSpPr/>
          <p:nvPr/>
        </p:nvCxnSpPr>
        <p:spPr>
          <a:xfrm>
            <a:off x="1903966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6" name="TextBox 1235"/>
          <p:cNvSpPr txBox="1"/>
          <p:nvPr/>
        </p:nvSpPr>
        <p:spPr>
          <a:xfrm rot="16200000">
            <a:off x="1629646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222222"/>
                </a:solidFill>
                <a:latin typeface="Arial"/>
              </a:rPr>
              <a:t>BRCA1</a:t>
            </a:r>
          </a:p>
        </p:txBody>
      </p:sp>
      <p:sp>
        <p:nvSpPr>
          <p:cNvPr id="1237" name="TextBox 1236"/>
          <p:cNvSpPr txBox="1"/>
          <p:nvPr/>
        </p:nvSpPr>
        <p:spPr>
          <a:xfrm rot="16200000">
            <a:off x="1693189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222222"/>
                </a:solidFill>
                <a:latin typeface="Arial"/>
              </a:rPr>
              <a:t>EGFR</a:t>
            </a:r>
          </a:p>
        </p:txBody>
      </p:sp>
      <p:cxnSp>
        <p:nvCxnSpPr>
          <p:cNvPr id="1238" name="Connector 1237"/>
          <p:cNvCxnSpPr/>
          <p:nvPr/>
        </p:nvCxnSpPr>
        <p:spPr>
          <a:xfrm>
            <a:off x="2031052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9" name="TextBox 1238"/>
          <p:cNvSpPr txBox="1"/>
          <p:nvPr/>
        </p:nvSpPr>
        <p:spPr>
          <a:xfrm rot="16200000">
            <a:off x="1756732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222222"/>
                </a:solidFill>
                <a:latin typeface="Arial"/>
              </a:rPr>
              <a:t>BRCA2</a:t>
            </a:r>
          </a:p>
        </p:txBody>
      </p:sp>
      <p:sp>
        <p:nvSpPr>
          <p:cNvPr id="1240" name="TextBox 1239"/>
          <p:cNvSpPr txBox="1"/>
          <p:nvPr/>
        </p:nvSpPr>
        <p:spPr>
          <a:xfrm rot="16200000">
            <a:off x="1820275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222222"/>
                </a:solidFill>
                <a:latin typeface="Arial"/>
              </a:rPr>
              <a:t>CTNNB1</a:t>
            </a:r>
          </a:p>
        </p:txBody>
      </p:sp>
      <p:cxnSp>
        <p:nvCxnSpPr>
          <p:cNvPr id="1241" name="Connector 1240"/>
          <p:cNvCxnSpPr/>
          <p:nvPr/>
        </p:nvCxnSpPr>
        <p:spPr>
          <a:xfrm>
            <a:off x="2158138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2" name="TextBox 1241"/>
          <p:cNvSpPr txBox="1"/>
          <p:nvPr/>
        </p:nvSpPr>
        <p:spPr>
          <a:xfrm rot="16200000">
            <a:off x="1883818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NRAS</a:t>
            </a:r>
          </a:p>
        </p:txBody>
      </p:sp>
      <p:sp>
        <p:nvSpPr>
          <p:cNvPr id="1243" name="TextBox 1242"/>
          <p:cNvSpPr txBox="1"/>
          <p:nvPr/>
        </p:nvSpPr>
        <p:spPr>
          <a:xfrm rot="16200000">
            <a:off x="1947362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ATM</a:t>
            </a:r>
          </a:p>
        </p:txBody>
      </p:sp>
      <p:cxnSp>
        <p:nvCxnSpPr>
          <p:cNvPr id="1244" name="Connector 1243"/>
          <p:cNvCxnSpPr/>
          <p:nvPr/>
        </p:nvCxnSpPr>
        <p:spPr>
          <a:xfrm>
            <a:off x="2285225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5" name="TextBox 1244"/>
          <p:cNvSpPr txBox="1"/>
          <p:nvPr/>
        </p:nvSpPr>
        <p:spPr>
          <a:xfrm rot="16200000">
            <a:off x="2010905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ERBB2</a:t>
            </a:r>
          </a:p>
        </p:txBody>
      </p:sp>
      <p:sp>
        <p:nvSpPr>
          <p:cNvPr id="1246" name="TextBox 1245"/>
          <p:cNvSpPr txBox="1"/>
          <p:nvPr/>
        </p:nvSpPr>
        <p:spPr>
          <a:xfrm rot="16200000">
            <a:off x="2074448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KIT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2412311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8" name="TextBox 1247"/>
          <p:cNvSpPr txBox="1"/>
          <p:nvPr/>
        </p:nvSpPr>
        <p:spPr>
          <a:xfrm rot="16200000">
            <a:off x="2137991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MLH1</a:t>
            </a:r>
          </a:p>
        </p:txBody>
      </p:sp>
      <p:sp>
        <p:nvSpPr>
          <p:cNvPr id="1249" name="TextBox 1248"/>
          <p:cNvSpPr txBox="1"/>
          <p:nvPr/>
        </p:nvSpPr>
        <p:spPr>
          <a:xfrm rot="16200000">
            <a:off x="2201534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ARID1A</a:t>
            </a:r>
          </a:p>
        </p:txBody>
      </p:sp>
      <p:cxnSp>
        <p:nvCxnSpPr>
          <p:cNvPr id="1250" name="Connector 1249"/>
          <p:cNvCxnSpPr/>
          <p:nvPr/>
        </p:nvCxnSpPr>
        <p:spPr>
          <a:xfrm>
            <a:off x="2539397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1" name="TextBox 1250"/>
          <p:cNvSpPr txBox="1"/>
          <p:nvPr/>
        </p:nvSpPr>
        <p:spPr>
          <a:xfrm rot="16200000">
            <a:off x="2265077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APC</a:t>
            </a:r>
          </a:p>
        </p:txBody>
      </p:sp>
      <p:sp>
        <p:nvSpPr>
          <p:cNvPr id="1252" name="TextBox 1251"/>
          <p:cNvSpPr txBox="1"/>
          <p:nvPr/>
        </p:nvSpPr>
        <p:spPr>
          <a:xfrm rot="16200000">
            <a:off x="2328620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TERT</a:t>
            </a:r>
          </a:p>
        </p:txBody>
      </p:sp>
      <p:cxnSp>
        <p:nvCxnSpPr>
          <p:cNvPr id="1253" name="Connector 1252"/>
          <p:cNvCxnSpPr/>
          <p:nvPr/>
        </p:nvCxnSpPr>
        <p:spPr>
          <a:xfrm>
            <a:off x="2666483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4" name="TextBox 1253"/>
          <p:cNvSpPr txBox="1"/>
          <p:nvPr/>
        </p:nvSpPr>
        <p:spPr>
          <a:xfrm rot="16200000">
            <a:off x="2392163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CDKN2A</a:t>
            </a:r>
          </a:p>
        </p:txBody>
      </p:sp>
      <p:sp>
        <p:nvSpPr>
          <p:cNvPr id="1255" name="TextBox 1254"/>
          <p:cNvSpPr txBox="1"/>
          <p:nvPr/>
        </p:nvSpPr>
        <p:spPr>
          <a:xfrm rot="16200000">
            <a:off x="2455706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MSH2</a:t>
            </a:r>
          </a:p>
        </p:txBody>
      </p:sp>
      <p:cxnSp>
        <p:nvCxnSpPr>
          <p:cNvPr id="1256" name="Connector 1255"/>
          <p:cNvCxnSpPr/>
          <p:nvPr/>
        </p:nvCxnSpPr>
        <p:spPr>
          <a:xfrm>
            <a:off x="2793569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TextBox 1256"/>
          <p:cNvSpPr txBox="1"/>
          <p:nvPr/>
        </p:nvSpPr>
        <p:spPr>
          <a:xfrm rot="16200000">
            <a:off x="2519249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MSH6</a:t>
            </a:r>
          </a:p>
        </p:txBody>
      </p:sp>
      <p:sp>
        <p:nvSpPr>
          <p:cNvPr id="1258" name="TextBox 1257"/>
          <p:cNvSpPr txBox="1"/>
          <p:nvPr/>
        </p:nvSpPr>
        <p:spPr>
          <a:xfrm rot="16200000">
            <a:off x="2582792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POLE</a:t>
            </a:r>
          </a:p>
        </p:txBody>
      </p:sp>
      <p:cxnSp>
        <p:nvCxnSpPr>
          <p:cNvPr id="1259" name="Connector 1258"/>
          <p:cNvCxnSpPr/>
          <p:nvPr/>
        </p:nvCxnSpPr>
        <p:spPr>
          <a:xfrm>
            <a:off x="2920655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TextBox 1259"/>
          <p:cNvSpPr txBox="1"/>
          <p:nvPr/>
        </p:nvSpPr>
        <p:spPr>
          <a:xfrm rot="16200000">
            <a:off x="2646335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RB1</a:t>
            </a:r>
          </a:p>
        </p:txBody>
      </p:sp>
      <p:sp>
        <p:nvSpPr>
          <p:cNvPr id="1261" name="TextBox 1260"/>
          <p:cNvSpPr txBox="1"/>
          <p:nvPr/>
        </p:nvSpPr>
        <p:spPr>
          <a:xfrm rot="16200000">
            <a:off x="2709878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PALB2</a:t>
            </a:r>
          </a:p>
        </p:txBody>
      </p:sp>
      <p:cxnSp>
        <p:nvCxnSpPr>
          <p:cNvPr id="1262" name="Connector 1261"/>
          <p:cNvCxnSpPr/>
          <p:nvPr/>
        </p:nvCxnSpPr>
        <p:spPr>
          <a:xfrm>
            <a:off x="3047741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3" name="TextBox 1262"/>
          <p:cNvSpPr txBox="1"/>
          <p:nvPr/>
        </p:nvSpPr>
        <p:spPr>
          <a:xfrm rot="16200000">
            <a:off x="2773421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CHEK2</a:t>
            </a:r>
          </a:p>
        </p:txBody>
      </p:sp>
      <p:sp>
        <p:nvSpPr>
          <p:cNvPr id="1264" name="TextBox 1263"/>
          <p:cNvSpPr txBox="1"/>
          <p:nvPr/>
        </p:nvSpPr>
        <p:spPr>
          <a:xfrm rot="16200000">
            <a:off x="2836964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CD274</a:t>
            </a:r>
          </a:p>
        </p:txBody>
      </p:sp>
      <p:cxnSp>
        <p:nvCxnSpPr>
          <p:cNvPr id="1265" name="Connector 1264"/>
          <p:cNvCxnSpPr/>
          <p:nvPr/>
        </p:nvCxnSpPr>
        <p:spPr>
          <a:xfrm>
            <a:off x="3174827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6" name="TextBox 1265"/>
          <p:cNvSpPr txBox="1"/>
          <p:nvPr/>
        </p:nvSpPr>
        <p:spPr>
          <a:xfrm rot="16200000">
            <a:off x="2900507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FGFR3</a:t>
            </a:r>
          </a:p>
        </p:txBody>
      </p:sp>
      <p:sp>
        <p:nvSpPr>
          <p:cNvPr id="1267" name="TextBox 1266"/>
          <p:cNvSpPr txBox="1"/>
          <p:nvPr/>
        </p:nvSpPr>
        <p:spPr>
          <a:xfrm rot="16200000">
            <a:off x="2964050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BAP1</a:t>
            </a:r>
          </a:p>
        </p:txBody>
      </p:sp>
      <p:cxnSp>
        <p:nvCxnSpPr>
          <p:cNvPr id="1268" name="Connector 1267"/>
          <p:cNvCxnSpPr/>
          <p:nvPr/>
        </p:nvCxnSpPr>
        <p:spPr>
          <a:xfrm>
            <a:off x="3301913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9" name="TextBox 1268"/>
          <p:cNvSpPr txBox="1"/>
          <p:nvPr/>
        </p:nvSpPr>
        <p:spPr>
          <a:xfrm rot="16200000">
            <a:off x="3027593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DNMT3A</a:t>
            </a:r>
          </a:p>
        </p:txBody>
      </p:sp>
      <p:sp>
        <p:nvSpPr>
          <p:cNvPr id="1270" name="TextBox 1269"/>
          <p:cNvSpPr txBox="1"/>
          <p:nvPr/>
        </p:nvSpPr>
        <p:spPr>
          <a:xfrm rot="16200000">
            <a:off x="3091136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KMT2D</a:t>
            </a:r>
          </a:p>
        </p:txBody>
      </p:sp>
      <p:cxnSp>
        <p:nvCxnSpPr>
          <p:cNvPr id="1271" name="Connector 1270"/>
          <p:cNvCxnSpPr/>
          <p:nvPr/>
        </p:nvCxnSpPr>
        <p:spPr>
          <a:xfrm>
            <a:off x="3429000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TextBox 1271"/>
          <p:cNvSpPr txBox="1"/>
          <p:nvPr/>
        </p:nvSpPr>
        <p:spPr>
          <a:xfrm rot="16200000">
            <a:off x="3154680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HRAS</a:t>
            </a:r>
          </a:p>
        </p:txBody>
      </p:sp>
      <p:sp>
        <p:nvSpPr>
          <p:cNvPr id="1273" name="TextBox 1272"/>
          <p:cNvSpPr txBox="1"/>
          <p:nvPr/>
        </p:nvSpPr>
        <p:spPr>
          <a:xfrm rot="16200000">
            <a:off x="3218223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IDH2</a:t>
            </a:r>
          </a:p>
        </p:txBody>
      </p:sp>
      <p:cxnSp>
        <p:nvCxnSpPr>
          <p:cNvPr id="1274" name="Connector 1273"/>
          <p:cNvCxnSpPr/>
          <p:nvPr/>
        </p:nvCxnSpPr>
        <p:spPr>
          <a:xfrm>
            <a:off x="3556086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5" name="TextBox 1274"/>
          <p:cNvSpPr txBox="1"/>
          <p:nvPr/>
        </p:nvSpPr>
        <p:spPr>
          <a:xfrm rot="16200000">
            <a:off x="3281766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SMAD4</a:t>
            </a:r>
          </a:p>
        </p:txBody>
      </p:sp>
      <p:sp>
        <p:nvSpPr>
          <p:cNvPr id="1276" name="TextBox 1275"/>
          <p:cNvSpPr txBox="1"/>
          <p:nvPr/>
        </p:nvSpPr>
        <p:spPr>
          <a:xfrm rot="16200000">
            <a:off x="3345309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GNAS</a:t>
            </a:r>
          </a:p>
        </p:txBody>
      </p:sp>
      <p:cxnSp>
        <p:nvCxnSpPr>
          <p:cNvPr id="1277" name="Connector 1276"/>
          <p:cNvCxnSpPr/>
          <p:nvPr/>
        </p:nvCxnSpPr>
        <p:spPr>
          <a:xfrm>
            <a:off x="3683172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8" name="TextBox 1277"/>
          <p:cNvSpPr txBox="1"/>
          <p:nvPr/>
        </p:nvSpPr>
        <p:spPr>
          <a:xfrm rot="16200000">
            <a:off x="3408852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NOTCH1</a:t>
            </a:r>
          </a:p>
        </p:txBody>
      </p:sp>
      <p:sp>
        <p:nvSpPr>
          <p:cNvPr id="1279" name="TextBox 1278"/>
          <p:cNvSpPr txBox="1"/>
          <p:nvPr/>
        </p:nvSpPr>
        <p:spPr>
          <a:xfrm rot="16200000">
            <a:off x="3472395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TET2</a:t>
            </a:r>
          </a:p>
        </p:txBody>
      </p:sp>
      <p:cxnSp>
        <p:nvCxnSpPr>
          <p:cNvPr id="1280" name="Connector 1279"/>
          <p:cNvCxnSpPr/>
          <p:nvPr/>
        </p:nvCxnSpPr>
        <p:spPr>
          <a:xfrm>
            <a:off x="3810258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1" name="TextBox 1280"/>
          <p:cNvSpPr txBox="1"/>
          <p:nvPr/>
        </p:nvSpPr>
        <p:spPr>
          <a:xfrm rot="16200000">
            <a:off x="3535938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FBXW7</a:t>
            </a:r>
          </a:p>
        </p:txBody>
      </p:sp>
      <p:sp>
        <p:nvSpPr>
          <p:cNvPr id="1282" name="TextBox 1281"/>
          <p:cNvSpPr txBox="1"/>
          <p:nvPr/>
        </p:nvSpPr>
        <p:spPr>
          <a:xfrm rot="16200000">
            <a:off x="3599481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MET</a:t>
            </a:r>
          </a:p>
        </p:txBody>
      </p:sp>
      <p:cxnSp>
        <p:nvCxnSpPr>
          <p:cNvPr id="1283" name="Connector 1282"/>
          <p:cNvCxnSpPr/>
          <p:nvPr/>
        </p:nvCxnSpPr>
        <p:spPr>
          <a:xfrm>
            <a:off x="3937344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4" name="TextBox 1283"/>
          <p:cNvSpPr txBox="1"/>
          <p:nvPr/>
        </p:nvSpPr>
        <p:spPr>
          <a:xfrm rot="16200000">
            <a:off x="3663024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PDGFRA</a:t>
            </a:r>
          </a:p>
        </p:txBody>
      </p:sp>
      <p:sp>
        <p:nvSpPr>
          <p:cNvPr id="1285" name="TextBox 1284"/>
          <p:cNvSpPr txBox="1"/>
          <p:nvPr/>
        </p:nvSpPr>
        <p:spPr>
          <a:xfrm rot="16200000">
            <a:off x="3726567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CDH1</a:t>
            </a:r>
          </a:p>
        </p:txBody>
      </p:sp>
      <p:cxnSp>
        <p:nvCxnSpPr>
          <p:cNvPr id="1286" name="Connector 1285"/>
          <p:cNvCxnSpPr/>
          <p:nvPr/>
        </p:nvCxnSpPr>
        <p:spPr>
          <a:xfrm>
            <a:off x="4064430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7" name="TextBox 1286"/>
          <p:cNvSpPr txBox="1"/>
          <p:nvPr/>
        </p:nvSpPr>
        <p:spPr>
          <a:xfrm rot="16200000">
            <a:off x="3790110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IDH1</a:t>
            </a:r>
          </a:p>
        </p:txBody>
      </p:sp>
      <p:sp>
        <p:nvSpPr>
          <p:cNvPr id="1288" name="TextBox 1287"/>
          <p:cNvSpPr txBox="1"/>
          <p:nvPr/>
        </p:nvSpPr>
        <p:spPr>
          <a:xfrm rot="16200000">
            <a:off x="3853653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MYD88</a:t>
            </a:r>
          </a:p>
        </p:txBody>
      </p:sp>
      <p:cxnSp>
        <p:nvCxnSpPr>
          <p:cNvPr id="1289" name="Connector 1288"/>
          <p:cNvCxnSpPr/>
          <p:nvPr/>
        </p:nvCxnSpPr>
        <p:spPr>
          <a:xfrm>
            <a:off x="4191516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0" name="TextBox 1289"/>
          <p:cNvSpPr txBox="1"/>
          <p:nvPr/>
        </p:nvSpPr>
        <p:spPr>
          <a:xfrm rot="16200000">
            <a:off x="3917196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RET</a:t>
            </a:r>
          </a:p>
        </p:txBody>
      </p:sp>
      <p:sp>
        <p:nvSpPr>
          <p:cNvPr id="1291" name="TextBox 1290"/>
          <p:cNvSpPr txBox="1"/>
          <p:nvPr/>
        </p:nvSpPr>
        <p:spPr>
          <a:xfrm rot="16200000">
            <a:off x="3980739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ALK</a:t>
            </a:r>
          </a:p>
        </p:txBody>
      </p:sp>
      <p:cxnSp>
        <p:nvCxnSpPr>
          <p:cNvPr id="1292" name="Connector 1291"/>
          <p:cNvCxnSpPr/>
          <p:nvPr/>
        </p:nvCxnSpPr>
        <p:spPr>
          <a:xfrm>
            <a:off x="4318602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3" name="TextBox 1292"/>
          <p:cNvSpPr txBox="1"/>
          <p:nvPr/>
        </p:nvSpPr>
        <p:spPr>
          <a:xfrm rot="16200000">
            <a:off x="4044282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ASXL1</a:t>
            </a:r>
          </a:p>
        </p:txBody>
      </p:sp>
      <p:sp>
        <p:nvSpPr>
          <p:cNvPr id="1294" name="TextBox 1293"/>
          <p:cNvSpPr txBox="1"/>
          <p:nvPr/>
        </p:nvSpPr>
        <p:spPr>
          <a:xfrm rot="16200000">
            <a:off x="4107825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GNAQ</a:t>
            </a:r>
          </a:p>
        </p:txBody>
      </p:sp>
      <p:cxnSp>
        <p:nvCxnSpPr>
          <p:cNvPr id="1295" name="Connector 1294"/>
          <p:cNvCxnSpPr/>
          <p:nvPr/>
        </p:nvCxnSpPr>
        <p:spPr>
          <a:xfrm>
            <a:off x="4445688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6" name="TextBox 1295"/>
          <p:cNvSpPr txBox="1"/>
          <p:nvPr/>
        </p:nvSpPr>
        <p:spPr>
          <a:xfrm rot="16200000">
            <a:off x="4171368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STK11</a:t>
            </a:r>
          </a:p>
        </p:txBody>
      </p:sp>
      <p:sp>
        <p:nvSpPr>
          <p:cNvPr id="1297" name="TextBox 1296"/>
          <p:cNvSpPr txBox="1"/>
          <p:nvPr/>
        </p:nvSpPr>
        <p:spPr>
          <a:xfrm rot="16200000">
            <a:off x="4234911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EIF1AX</a:t>
            </a:r>
          </a:p>
        </p:txBody>
      </p:sp>
      <p:cxnSp>
        <p:nvCxnSpPr>
          <p:cNvPr id="1298" name="Connector 1297"/>
          <p:cNvCxnSpPr/>
          <p:nvPr/>
        </p:nvCxnSpPr>
        <p:spPr>
          <a:xfrm>
            <a:off x="4572774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9" name="TextBox 1298"/>
          <p:cNvSpPr txBox="1"/>
          <p:nvPr/>
        </p:nvSpPr>
        <p:spPr>
          <a:xfrm rot="16200000">
            <a:off x="4298454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MYC</a:t>
            </a:r>
          </a:p>
        </p:txBody>
      </p:sp>
      <p:sp>
        <p:nvSpPr>
          <p:cNvPr id="1300" name="TextBox 1299"/>
          <p:cNvSpPr txBox="1"/>
          <p:nvPr/>
        </p:nvSpPr>
        <p:spPr>
          <a:xfrm rot="16200000">
            <a:off x="4361997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MTOR</a:t>
            </a:r>
          </a:p>
        </p:txBody>
      </p:sp>
      <p:cxnSp>
        <p:nvCxnSpPr>
          <p:cNvPr id="1301" name="Connector 1300"/>
          <p:cNvCxnSpPr/>
          <p:nvPr/>
        </p:nvCxnSpPr>
        <p:spPr>
          <a:xfrm>
            <a:off x="4699861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2" name="TextBox 1301"/>
          <p:cNvSpPr txBox="1"/>
          <p:nvPr/>
        </p:nvSpPr>
        <p:spPr>
          <a:xfrm rot="16200000">
            <a:off x="4425541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PARP1</a:t>
            </a:r>
          </a:p>
        </p:txBody>
      </p:sp>
      <p:sp>
        <p:nvSpPr>
          <p:cNvPr id="1303" name="TextBox 1302"/>
          <p:cNvSpPr txBox="1"/>
          <p:nvPr/>
        </p:nvSpPr>
        <p:spPr>
          <a:xfrm rot="16200000">
            <a:off x="4489084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SF3B1</a:t>
            </a:r>
          </a:p>
        </p:txBody>
      </p:sp>
      <p:cxnSp>
        <p:nvCxnSpPr>
          <p:cNvPr id="1304" name="Connector 1303"/>
          <p:cNvCxnSpPr/>
          <p:nvPr/>
        </p:nvCxnSpPr>
        <p:spPr>
          <a:xfrm>
            <a:off x="4826947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5" name="TextBox 1304"/>
          <p:cNvSpPr txBox="1"/>
          <p:nvPr/>
        </p:nvSpPr>
        <p:spPr>
          <a:xfrm rot="16200000">
            <a:off x="4552627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RAD51C</a:t>
            </a:r>
          </a:p>
        </p:txBody>
      </p:sp>
      <p:sp>
        <p:nvSpPr>
          <p:cNvPr id="1306" name="TextBox 1305"/>
          <p:cNvSpPr txBox="1"/>
          <p:nvPr/>
        </p:nvSpPr>
        <p:spPr>
          <a:xfrm rot="16200000">
            <a:off x="4616170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RHOA</a:t>
            </a:r>
          </a:p>
        </p:txBody>
      </p:sp>
      <p:cxnSp>
        <p:nvCxnSpPr>
          <p:cNvPr id="1307" name="Connector 1306"/>
          <p:cNvCxnSpPr/>
          <p:nvPr/>
        </p:nvCxnSpPr>
        <p:spPr>
          <a:xfrm>
            <a:off x="4954033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8" name="TextBox 1307"/>
          <p:cNvSpPr txBox="1"/>
          <p:nvPr/>
        </p:nvSpPr>
        <p:spPr>
          <a:xfrm rot="16200000">
            <a:off x="4679713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PMS2</a:t>
            </a:r>
          </a:p>
        </p:txBody>
      </p:sp>
      <p:sp>
        <p:nvSpPr>
          <p:cNvPr id="1309" name="TextBox 1308"/>
          <p:cNvSpPr txBox="1"/>
          <p:nvPr/>
        </p:nvSpPr>
        <p:spPr>
          <a:xfrm rot="16200000">
            <a:off x="4743256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TSC1</a:t>
            </a:r>
          </a:p>
        </p:txBody>
      </p:sp>
      <p:cxnSp>
        <p:nvCxnSpPr>
          <p:cNvPr id="1310" name="Connector 1309"/>
          <p:cNvCxnSpPr/>
          <p:nvPr/>
        </p:nvCxnSpPr>
        <p:spPr>
          <a:xfrm>
            <a:off x="5081119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1" name="TextBox 1310"/>
          <p:cNvSpPr txBox="1"/>
          <p:nvPr/>
        </p:nvSpPr>
        <p:spPr>
          <a:xfrm rot="16200000">
            <a:off x="4806799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DICER1</a:t>
            </a:r>
          </a:p>
        </p:txBody>
      </p:sp>
      <p:sp>
        <p:nvSpPr>
          <p:cNvPr id="1312" name="TextBox 1311"/>
          <p:cNvSpPr txBox="1"/>
          <p:nvPr/>
        </p:nvSpPr>
        <p:spPr>
          <a:xfrm rot="16200000">
            <a:off x="4870342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RAD51D</a:t>
            </a:r>
          </a:p>
        </p:txBody>
      </p:sp>
      <p:cxnSp>
        <p:nvCxnSpPr>
          <p:cNvPr id="1313" name="Connector 1312"/>
          <p:cNvCxnSpPr/>
          <p:nvPr/>
        </p:nvCxnSpPr>
        <p:spPr>
          <a:xfrm>
            <a:off x="5208205" y="6071616"/>
            <a:ext cx="0" cy="566928"/>
          </a:xfrm>
          <a:prstGeom prst="line">
            <a:avLst/>
          </a:prstGeom>
          <a:ln w="317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4" name="TextBox 1313"/>
          <p:cNvSpPr txBox="1"/>
          <p:nvPr/>
        </p:nvSpPr>
        <p:spPr>
          <a:xfrm rot="16200000">
            <a:off x="4933885" y="6908524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CCND1</a:t>
            </a:r>
          </a:p>
        </p:txBody>
      </p:sp>
      <p:sp>
        <p:nvSpPr>
          <p:cNvPr id="1315" name="TextBox 1314"/>
          <p:cNvSpPr txBox="1"/>
          <p:nvPr/>
        </p:nvSpPr>
        <p:spPr>
          <a:xfrm rot="16200000">
            <a:off x="4997428" y="6341596"/>
            <a:ext cx="548640" cy="81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LRP1B</a:t>
            </a:r>
          </a:p>
        </p:txBody>
      </p:sp>
      <p:sp>
        <p:nvSpPr>
          <p:cNvPr id="1316" name="TextBox 1315"/>
          <p:cNvSpPr txBox="1"/>
          <p:nvPr/>
        </p:nvSpPr>
        <p:spPr>
          <a:xfrm>
            <a:off x="5394960" y="1207008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Rank</a:t>
            </a:r>
          </a:p>
        </p:txBody>
      </p:sp>
      <p:sp>
        <p:nvSpPr>
          <p:cNvPr id="1317" name="Rectangle 1316"/>
          <p:cNvSpPr/>
          <p:nvPr/>
        </p:nvSpPr>
        <p:spPr>
          <a:xfrm>
            <a:off x="5440680" y="1435608"/>
            <a:ext cx="146304" cy="201168"/>
          </a:xfrm>
          <a:prstGeom prst="rect">
            <a:avLst/>
          </a:prstGeom>
          <a:solidFill>
            <a:srgbClr val="08306B"/>
          </a:solidFill>
          <a:ln w="63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5623560" y="1435608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sp>
        <p:nvSpPr>
          <p:cNvPr id="1319" name="Rectangle 1318"/>
          <p:cNvSpPr/>
          <p:nvPr/>
        </p:nvSpPr>
        <p:spPr>
          <a:xfrm>
            <a:off x="5440680" y="1709928"/>
            <a:ext cx="146304" cy="201168"/>
          </a:xfrm>
          <a:prstGeom prst="rect">
            <a:avLst/>
          </a:prstGeom>
          <a:solidFill>
            <a:srgbClr val="325485"/>
          </a:solidFill>
          <a:ln w="63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TextBox 1319"/>
          <p:cNvSpPr txBox="1"/>
          <p:nvPr/>
        </p:nvSpPr>
        <p:spPr>
          <a:xfrm>
            <a:off x="5623560" y="1709928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1321" name="Rectangle 1320"/>
          <p:cNvSpPr/>
          <p:nvPr/>
        </p:nvSpPr>
        <p:spPr>
          <a:xfrm>
            <a:off x="5440680" y="1984248"/>
            <a:ext cx="146304" cy="201168"/>
          </a:xfrm>
          <a:prstGeom prst="rect">
            <a:avLst/>
          </a:prstGeom>
          <a:solidFill>
            <a:srgbClr val="6780A5"/>
          </a:solidFill>
          <a:ln w="63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TextBox 1321"/>
          <p:cNvSpPr txBox="1"/>
          <p:nvPr/>
        </p:nvSpPr>
        <p:spPr>
          <a:xfrm>
            <a:off x="5623560" y="1984248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sp>
        <p:nvSpPr>
          <p:cNvPr id="1323" name="Rectangle 1322"/>
          <p:cNvSpPr/>
          <p:nvPr/>
        </p:nvSpPr>
        <p:spPr>
          <a:xfrm>
            <a:off x="5440680" y="2258568"/>
            <a:ext cx="146304" cy="201168"/>
          </a:xfrm>
          <a:prstGeom prst="rect">
            <a:avLst/>
          </a:prstGeom>
          <a:solidFill>
            <a:srgbClr val="9CADC5"/>
          </a:solidFill>
          <a:ln w="63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TextBox 1323"/>
          <p:cNvSpPr txBox="1"/>
          <p:nvPr/>
        </p:nvSpPr>
        <p:spPr>
          <a:xfrm>
            <a:off x="5623560" y="2258568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15</a:t>
            </a:r>
          </a:p>
        </p:txBody>
      </p:sp>
      <p:sp>
        <p:nvSpPr>
          <p:cNvPr id="1325" name="Rectangle 1324"/>
          <p:cNvSpPr/>
          <p:nvPr/>
        </p:nvSpPr>
        <p:spPr>
          <a:xfrm>
            <a:off x="5440680" y="2532888"/>
            <a:ext cx="146304" cy="201168"/>
          </a:xfrm>
          <a:prstGeom prst="rect">
            <a:avLst/>
          </a:prstGeom>
          <a:solidFill>
            <a:srgbClr val="D1D9E5"/>
          </a:solidFill>
          <a:ln w="63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TextBox 1325"/>
          <p:cNvSpPr txBox="1"/>
          <p:nvPr/>
        </p:nvSpPr>
        <p:spPr>
          <a:xfrm>
            <a:off x="5623560" y="2532888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sp>
        <p:nvSpPr>
          <p:cNvPr id="1327" name="Rectangle 1326"/>
          <p:cNvSpPr/>
          <p:nvPr/>
        </p:nvSpPr>
        <p:spPr>
          <a:xfrm>
            <a:off x="5440680" y="2807208"/>
            <a:ext cx="14630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TextBox 1327"/>
          <p:cNvSpPr txBox="1"/>
          <p:nvPr/>
        </p:nvSpPr>
        <p:spPr>
          <a:xfrm>
            <a:off x="5623560" y="2807208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—</a:t>
            </a:r>
          </a:p>
        </p:txBody>
      </p:sp>
      <p:sp>
        <p:nvSpPr>
          <p:cNvPr id="1329" name="TextBox 1328"/>
          <p:cNvSpPr txBox="1"/>
          <p:nvPr/>
        </p:nvSpPr>
        <p:spPr>
          <a:xfrm>
            <a:off x="5394960" y="3081528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rial"/>
              </a:rPr>
              <a:t>— not in</a:t>
            </a:r>
          </a:p>
          <a:p>
            <a:pPr algn="l"/>
            <a:r>
              <a:rPr sz="700" b="0" i="0">
                <a:solidFill>
                  <a:srgbClr val="555555"/>
                </a:solidFill>
                <a:latin typeface="Arial"/>
              </a:rPr>
              <a:t>top-20</a:t>
            </a:r>
          </a:p>
        </p:txBody>
      </p:sp>
      <p:sp>
        <p:nvSpPr>
          <p:cNvPr id="1330" name="TextBox 1329"/>
          <p:cNvSpPr txBox="1"/>
          <p:nvPr/>
        </p:nvSpPr>
        <p:spPr>
          <a:xfrm>
            <a:off x="320040" y="739749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Organ system</a:t>
            </a:r>
          </a:p>
        </p:txBody>
      </p:sp>
      <p:sp>
        <p:nvSpPr>
          <p:cNvPr id="1331" name="Rectangle 1330"/>
          <p:cNvSpPr/>
          <p:nvPr/>
        </p:nvSpPr>
        <p:spPr>
          <a:xfrm>
            <a:off x="320040" y="7616952"/>
            <a:ext cx="109728" cy="109728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TextBox 1331"/>
          <p:cNvSpPr txBox="1"/>
          <p:nvPr/>
        </p:nvSpPr>
        <p:spPr>
          <a:xfrm>
            <a:off x="475488" y="7598664"/>
            <a:ext cx="12344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Hematologic</a:t>
            </a:r>
          </a:p>
        </p:txBody>
      </p:sp>
      <p:sp>
        <p:nvSpPr>
          <p:cNvPr id="1333" name="Rectangle 1332"/>
          <p:cNvSpPr/>
          <p:nvPr/>
        </p:nvSpPr>
        <p:spPr>
          <a:xfrm>
            <a:off x="1737360" y="7616952"/>
            <a:ext cx="109728" cy="109728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TextBox 1333"/>
          <p:cNvSpPr txBox="1"/>
          <p:nvPr/>
        </p:nvSpPr>
        <p:spPr>
          <a:xfrm>
            <a:off x="1892807" y="7598664"/>
            <a:ext cx="12344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Gynecologic/Breast</a:t>
            </a:r>
          </a:p>
        </p:txBody>
      </p:sp>
      <p:sp>
        <p:nvSpPr>
          <p:cNvPr id="1335" name="Rectangle 1334"/>
          <p:cNvSpPr/>
          <p:nvPr/>
        </p:nvSpPr>
        <p:spPr>
          <a:xfrm>
            <a:off x="3154680" y="7616952"/>
            <a:ext cx="109728" cy="10972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3310128" y="7598664"/>
            <a:ext cx="12344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Gastrointestinal</a:t>
            </a:r>
          </a:p>
        </p:txBody>
      </p:sp>
      <p:sp>
        <p:nvSpPr>
          <p:cNvPr id="1337" name="Rectangle 1336"/>
          <p:cNvSpPr/>
          <p:nvPr/>
        </p:nvSpPr>
        <p:spPr>
          <a:xfrm>
            <a:off x="4572000" y="7616952"/>
            <a:ext cx="109728" cy="109728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TextBox 1337"/>
          <p:cNvSpPr txBox="1"/>
          <p:nvPr/>
        </p:nvSpPr>
        <p:spPr>
          <a:xfrm>
            <a:off x="4727448" y="7598664"/>
            <a:ext cx="12344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Genitourinary</a:t>
            </a:r>
          </a:p>
        </p:txBody>
      </p:sp>
      <p:sp>
        <p:nvSpPr>
          <p:cNvPr id="1339" name="Rectangle 1338"/>
          <p:cNvSpPr/>
          <p:nvPr/>
        </p:nvSpPr>
        <p:spPr>
          <a:xfrm>
            <a:off x="320040" y="7799831"/>
            <a:ext cx="109728" cy="109728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TextBox 1339"/>
          <p:cNvSpPr txBox="1"/>
          <p:nvPr/>
        </p:nvSpPr>
        <p:spPr>
          <a:xfrm>
            <a:off x="475488" y="7781544"/>
            <a:ext cx="12344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Thoracic</a:t>
            </a:r>
          </a:p>
        </p:txBody>
      </p:sp>
      <p:sp>
        <p:nvSpPr>
          <p:cNvPr id="1341" name="Rectangle 1340"/>
          <p:cNvSpPr/>
          <p:nvPr/>
        </p:nvSpPr>
        <p:spPr>
          <a:xfrm>
            <a:off x="1737360" y="7799831"/>
            <a:ext cx="109728" cy="10972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1892807" y="7781544"/>
            <a:ext cx="12344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Skin</a:t>
            </a:r>
          </a:p>
        </p:txBody>
      </p:sp>
      <p:sp>
        <p:nvSpPr>
          <p:cNvPr id="1343" name="Rectangle 1342"/>
          <p:cNvSpPr/>
          <p:nvPr/>
        </p:nvSpPr>
        <p:spPr>
          <a:xfrm>
            <a:off x="3154680" y="7799831"/>
            <a:ext cx="109728" cy="109728"/>
          </a:xfrm>
          <a:prstGeom prst="rect">
            <a:avLst/>
          </a:prstGeom>
          <a:solidFill>
            <a:srgbClr val="99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TextBox 1343"/>
          <p:cNvSpPr txBox="1"/>
          <p:nvPr/>
        </p:nvSpPr>
        <p:spPr>
          <a:xfrm>
            <a:off x="3310128" y="7781544"/>
            <a:ext cx="12344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Endocrine</a:t>
            </a:r>
          </a:p>
        </p:txBody>
      </p:sp>
      <p:sp>
        <p:nvSpPr>
          <p:cNvPr id="1345" name="Rectangle 1344"/>
          <p:cNvSpPr/>
          <p:nvPr/>
        </p:nvSpPr>
        <p:spPr>
          <a:xfrm>
            <a:off x="4572000" y="7799831"/>
            <a:ext cx="109728" cy="10972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TextBox 1345"/>
          <p:cNvSpPr txBox="1"/>
          <p:nvPr/>
        </p:nvSpPr>
        <p:spPr>
          <a:xfrm>
            <a:off x="4727448" y="7781544"/>
            <a:ext cx="12344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CNS</a:t>
            </a:r>
          </a:p>
        </p:txBody>
      </p:sp>
      <p:sp>
        <p:nvSpPr>
          <p:cNvPr id="1347" name="TextBox 1346"/>
          <p:cNvSpPr txBox="1"/>
          <p:nvPr/>
        </p:nvSpPr>
        <p:spPr>
          <a:xfrm>
            <a:off x="320040" y="8037575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Column blocks group genes; cell shading gives each cancer's own rank. Right block: genes reaching</a:t>
            </a:r>
          </a:p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ranks 11–20 only. IntOGen driver strip: dark = gene listed by IntOGen as a driver (any cancer type),</a:t>
            </a:r>
          </a:p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light grey = not listed. Bold gene symbols: in the top-20 of at least half of the 19 cancers.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