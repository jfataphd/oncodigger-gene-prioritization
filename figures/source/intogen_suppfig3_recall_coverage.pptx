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Why most IntOGen driver pairs do not reach the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(A)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All 1,740 IntOGen driver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88719"/>
            <a:ext cx="2242487" cy="41148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03019"/>
            <a:ext cx="2242487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762 (43.8%)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9727" y="1188719"/>
            <a:ext cx="2324888" cy="411480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9727" y="1303019"/>
            <a:ext cx="232488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790 (45.4%)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4615" y="1188719"/>
            <a:ext cx="553264" cy="41148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09927"/>
            <a:ext cx="128016" cy="128016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82495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Arial"/>
              </a:rPr>
              <a:t>Surfaced: 762 (43.8%)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709927"/>
            <a:ext cx="128016" cy="128016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682495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Arial"/>
              </a:rPr>
              <a:t>Present, outside window: 790 (45.4%)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09927"/>
            <a:ext cx="128016" cy="128016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82495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Arial"/>
              </a:rPr>
              <a:t>No detected mention: 188 (10.8%)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938527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Arial"/>
              </a:rPr>
              <a:t>"Never surfaced" (978) is not "absent from the literature": 188 of them (19.2%) have no lexicon-detected mention, which reflects vocabulary detection, not confirmed absence.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65176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(B)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Full-corpus mentions, present-but-outside-window pairs (n=789)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480560"/>
            <a:ext cx="493776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19" y="4407408"/>
            <a:ext cx="3200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218528"/>
            <a:ext cx="493776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19" y="4145376"/>
            <a:ext cx="3200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3956496"/>
            <a:ext cx="493776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19" y="3883344"/>
            <a:ext cx="3200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100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3694465"/>
            <a:ext cx="493776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19" y="3621313"/>
            <a:ext cx="3200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150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3432433"/>
            <a:ext cx="493776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19" y="3359281"/>
            <a:ext cx="3200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200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" y="3154680"/>
            <a:ext cx="0" cy="132588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8680" y="4480560"/>
            <a:ext cx="493776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53327" y="3652540"/>
            <a:ext cx="536099" cy="828019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4970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158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5079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58721" y="3327620"/>
            <a:ext cx="536099" cy="1152939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74074" y="317217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4074" y="45079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2-4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4115" y="3642058"/>
            <a:ext cx="536099" cy="838501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79468" y="3486610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160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79468" y="45079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5-9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9510" y="3846443"/>
            <a:ext cx="536099" cy="634116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84862" y="3690995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121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4862" y="45079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10-19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74904" y="4061309"/>
            <a:ext cx="536099" cy="419250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0257" y="3905861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0257" y="45079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20-49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298" y="4328581"/>
            <a:ext cx="536099" cy="15197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5651" y="4173133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5651" y="45079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50-99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85693" y="4370506"/>
            <a:ext cx="536099" cy="110053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01045" y="4215058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1045" y="4507992"/>
            <a:ext cx="70539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100+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681728"/>
            <a:ext cx="4937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Full-corpus mentions (median = 5)</a:t>
            </a:r>
          </a:p>
        </p:txBody>
      </p:sp>
      <p:sp>
        <p:nvSpPr>
          <p:cNvPr id="51" name="TextBox 50"/>
          <p:cNvSpPr txBox="1"/>
          <p:nvPr/>
        </p:nvSpPr>
        <p:spPr>
          <a:xfrm rot="16200000">
            <a:off x="-251460" y="3735324"/>
            <a:ext cx="13258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Number of pairs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498348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(C)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Recall under progressively stricter, independently justified filters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97280" y="7406640"/>
            <a:ext cx="475488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4359" y="733348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97280" y="6915150"/>
            <a:ext cx="475488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4359" y="684199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20%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97280" y="6423659"/>
            <a:ext cx="475488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4359" y="635050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40%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97280" y="5932170"/>
            <a:ext cx="475488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94359" y="585901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60%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97280" y="5440679"/>
            <a:ext cx="475488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4359" y="536752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80%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97280" y="5440680"/>
            <a:ext cx="0" cy="196596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97280" y="7406640"/>
            <a:ext cx="475488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228039" y="7194790"/>
            <a:ext cx="271979" cy="211849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82319" y="7057630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999999"/>
                </a:solidFill>
                <a:latin typeface="Arial"/>
              </a:rPr>
              <a:t>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37106" y="7169128"/>
            <a:ext cx="271979" cy="237511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91386" y="7031968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E69F00"/>
                </a:solidFill>
                <a:latin typeface="Arial"/>
              </a:rPr>
              <a:t>10%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46173" y="6887675"/>
            <a:ext cx="271979" cy="51896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00453" y="6750515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072B2"/>
                </a:solidFill>
                <a:latin typeface="Arial"/>
              </a:rPr>
              <a:t>21%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7443215"/>
            <a:ext cx="11887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Rank 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16759" y="7047908"/>
            <a:ext cx="271979" cy="358731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71039" y="6910748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999999"/>
                </a:solidFill>
                <a:latin typeface="Arial"/>
              </a:rPr>
              <a:t>15%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25826" y="7004454"/>
            <a:ext cx="271979" cy="402185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80106" y="6867294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E69F00"/>
                </a:solidFill>
                <a:latin typeface="Arial"/>
              </a:rPr>
              <a:t>16%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34893" y="6635824"/>
            <a:ext cx="271979" cy="770815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89173" y="6498664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072B2"/>
                </a:solidFill>
                <a:latin typeface="Arial"/>
              </a:rPr>
              <a:t>31%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86000" y="7443215"/>
            <a:ext cx="11887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Rank 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05479" y="6759793"/>
            <a:ext cx="271979" cy="646846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59759" y="6622633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999999"/>
                </a:solidFill>
                <a:latin typeface="Arial"/>
              </a:rPr>
              <a:t>26%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14546" y="6681438"/>
            <a:ext cx="271979" cy="725201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68826" y="6544278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E69F00"/>
                </a:solidFill>
                <a:latin typeface="Arial"/>
              </a:rPr>
              <a:t>30%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23613" y="6155019"/>
            <a:ext cx="271979" cy="12516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7893" y="6017859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072B2"/>
                </a:solidFill>
                <a:latin typeface="Arial"/>
              </a:rPr>
              <a:t>51%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74720" y="7443215"/>
            <a:ext cx="11887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Rank 50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94199" y="6330446"/>
            <a:ext cx="271979" cy="1076193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48479" y="6193286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999999"/>
                </a:solidFill>
                <a:latin typeface="Arial"/>
              </a:rPr>
              <a:t>44%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03266" y="6200082"/>
            <a:ext cx="271979" cy="1206557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57546" y="6062922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E69F00"/>
                </a:solidFill>
                <a:latin typeface="Arial"/>
              </a:rPr>
              <a:t>49%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12333" y="5678029"/>
            <a:ext cx="271979" cy="172861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66613" y="5540869"/>
            <a:ext cx="400507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072B2"/>
                </a:solidFill>
                <a:latin typeface="Arial"/>
              </a:rPr>
              <a:t>70%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63440" y="7443215"/>
            <a:ext cx="11887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Any rank</a:t>
            </a:r>
          </a:p>
        </p:txBody>
      </p:sp>
      <p:sp>
        <p:nvSpPr>
          <p:cNvPr id="93" name="TextBox 92"/>
          <p:cNvSpPr txBox="1"/>
          <p:nvPr/>
        </p:nvSpPr>
        <p:spPr>
          <a:xfrm rot="16200000">
            <a:off x="-480060" y="6341364"/>
            <a:ext cx="19659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Recall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7699248"/>
            <a:ext cx="128016" cy="128016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2959" y="7671816"/>
            <a:ext cx="868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Arial"/>
              </a:rPr>
              <a:t>No filter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37360" y="7699248"/>
            <a:ext cx="128016" cy="128016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920240" y="767181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Arial"/>
              </a:rPr>
              <a:t>Remove zero-mention pairs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703320" y="7699248"/>
            <a:ext cx="128016" cy="12801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86200" y="7671816"/>
            <a:ext cx="2194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Arial"/>
              </a:rPr>
              <a:t>Also require 2 or more IntOGen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