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126480" cy="8686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3200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22222"/>
                </a:solidFill>
                <a:latin typeface="Arial"/>
              </a:rPr>
              <a:t>Per-cancer retrieval x vocabulary interaction, any-cancer Precision@10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4829694"/>
            <a:ext cx="5257800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11480" y="4756542"/>
            <a:ext cx="36576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−2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22960" y="4064923"/>
            <a:ext cx="5257800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11480" y="3991771"/>
            <a:ext cx="36576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22960" y="3300152"/>
            <a:ext cx="5257800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11480" y="3227000"/>
            <a:ext cx="36576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+2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22960" y="2535381"/>
            <a:ext cx="5257800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11480" y="2462229"/>
            <a:ext cx="36576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+4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" y="1770610"/>
            <a:ext cx="5257800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11480" y="1697458"/>
            <a:ext cx="36576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+6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2960" y="1005839"/>
            <a:ext cx="5257800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11480" y="932687"/>
            <a:ext cx="36576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+8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1005840"/>
            <a:ext cx="0" cy="4206239"/>
          </a:xfrm>
          <a:prstGeom prst="line">
            <a:avLst/>
          </a:prstGeom>
          <a:ln w="9525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22960" y="4064923"/>
            <a:ext cx="5257800" cy="0"/>
          </a:xfrm>
          <a:prstGeom prst="line">
            <a:avLst/>
          </a:prstGeom>
          <a:ln w="9525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875538" y="1388225"/>
            <a:ext cx="171570" cy="2676698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8378" y="1232777"/>
            <a:ext cx="44589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0072B2"/>
                </a:solidFill>
                <a:latin typeface="Arial"/>
              </a:rPr>
              <a:t>+7</a:t>
            </a:r>
          </a:p>
        </p:txBody>
      </p:sp>
      <p:sp>
        <p:nvSpPr>
          <p:cNvPr id="19" name="TextBox 18"/>
          <p:cNvSpPr txBox="1"/>
          <p:nvPr/>
        </p:nvSpPr>
        <p:spPr>
          <a:xfrm rot="16200000">
            <a:off x="481263" y="5622356"/>
            <a:ext cx="960120" cy="27672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Melanoma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52264" y="1770610"/>
            <a:ext cx="171570" cy="2294312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5104" y="1615162"/>
            <a:ext cx="44589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0072B2"/>
                </a:solidFill>
                <a:latin typeface="Arial"/>
              </a:rPr>
              <a:t>+6</a:t>
            </a:r>
          </a:p>
        </p:txBody>
      </p:sp>
      <p:sp>
        <p:nvSpPr>
          <p:cNvPr id="22" name="TextBox 21"/>
          <p:cNvSpPr txBox="1"/>
          <p:nvPr/>
        </p:nvSpPr>
        <p:spPr>
          <a:xfrm rot="16200000">
            <a:off x="757989" y="5622356"/>
            <a:ext cx="960120" cy="27672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Liver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428990" y="1770610"/>
            <a:ext cx="171570" cy="2294312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91830" y="1615162"/>
            <a:ext cx="44589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0072B2"/>
                </a:solidFill>
                <a:latin typeface="Arial"/>
              </a:rPr>
              <a:t>+6</a:t>
            </a:r>
          </a:p>
        </p:txBody>
      </p:sp>
      <p:sp>
        <p:nvSpPr>
          <p:cNvPr id="25" name="TextBox 24"/>
          <p:cNvSpPr txBox="1"/>
          <p:nvPr/>
        </p:nvSpPr>
        <p:spPr>
          <a:xfrm rot="16200000">
            <a:off x="1034715" y="5622356"/>
            <a:ext cx="960120" cy="27672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Myeloma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705716" y="1770610"/>
            <a:ext cx="171570" cy="2294312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68556" y="1615162"/>
            <a:ext cx="44589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0072B2"/>
                </a:solidFill>
                <a:latin typeface="Arial"/>
              </a:rPr>
              <a:t>+6</a:t>
            </a:r>
          </a:p>
        </p:txBody>
      </p:sp>
      <p:sp>
        <p:nvSpPr>
          <p:cNvPr id="28" name="TextBox 27"/>
          <p:cNvSpPr txBox="1"/>
          <p:nvPr/>
        </p:nvSpPr>
        <p:spPr>
          <a:xfrm rot="16200000">
            <a:off x="1311442" y="5622356"/>
            <a:ext cx="960120" cy="27672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Lymphoma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82443" y="2152996"/>
            <a:ext cx="171570" cy="1911927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845283" y="1997548"/>
            <a:ext cx="44589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0072B2"/>
                </a:solidFill>
                <a:latin typeface="Arial"/>
              </a:rPr>
              <a:t>+5</a:t>
            </a:r>
          </a:p>
        </p:txBody>
      </p:sp>
      <p:sp>
        <p:nvSpPr>
          <p:cNvPr id="31" name="TextBox 30"/>
          <p:cNvSpPr txBox="1"/>
          <p:nvPr/>
        </p:nvSpPr>
        <p:spPr>
          <a:xfrm rot="16200000">
            <a:off x="1588168" y="5622356"/>
            <a:ext cx="960120" cy="27672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Cervical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59169" y="2535381"/>
            <a:ext cx="171570" cy="1529541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22009" y="2379933"/>
            <a:ext cx="44589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0072B2"/>
                </a:solidFill>
                <a:latin typeface="Arial"/>
              </a:rPr>
              <a:t>+4</a:t>
            </a:r>
          </a:p>
        </p:txBody>
      </p:sp>
      <p:sp>
        <p:nvSpPr>
          <p:cNvPr id="34" name="TextBox 33"/>
          <p:cNvSpPr txBox="1"/>
          <p:nvPr/>
        </p:nvSpPr>
        <p:spPr>
          <a:xfrm rot="16200000">
            <a:off x="1864894" y="5622356"/>
            <a:ext cx="960120" cy="27672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Pancreatic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535895" y="2535381"/>
            <a:ext cx="171570" cy="1529541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398735" y="2379933"/>
            <a:ext cx="44589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0072B2"/>
                </a:solidFill>
                <a:latin typeface="Arial"/>
              </a:rPr>
              <a:t>+4</a:t>
            </a:r>
          </a:p>
        </p:txBody>
      </p:sp>
      <p:sp>
        <p:nvSpPr>
          <p:cNvPr id="37" name="TextBox 36"/>
          <p:cNvSpPr txBox="1"/>
          <p:nvPr/>
        </p:nvSpPr>
        <p:spPr>
          <a:xfrm rot="16200000">
            <a:off x="2141621" y="5622356"/>
            <a:ext cx="960120" cy="27672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Brain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12622" y="2535381"/>
            <a:ext cx="171570" cy="1529541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75462" y="2379933"/>
            <a:ext cx="44589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0072B2"/>
                </a:solidFill>
                <a:latin typeface="Arial"/>
              </a:rPr>
              <a:t>+4</a:t>
            </a:r>
          </a:p>
        </p:txBody>
      </p:sp>
      <p:sp>
        <p:nvSpPr>
          <p:cNvPr id="40" name="TextBox 39"/>
          <p:cNvSpPr txBox="1"/>
          <p:nvPr/>
        </p:nvSpPr>
        <p:spPr>
          <a:xfrm rot="16200000">
            <a:off x="2418347" y="5622356"/>
            <a:ext cx="960120" cy="27672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Kidney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089348" y="2917767"/>
            <a:ext cx="171570" cy="1147156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952188" y="2762319"/>
            <a:ext cx="44589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0072B2"/>
                </a:solidFill>
                <a:latin typeface="Arial"/>
              </a:rPr>
              <a:t>+3</a:t>
            </a:r>
          </a:p>
        </p:txBody>
      </p:sp>
      <p:sp>
        <p:nvSpPr>
          <p:cNvPr id="43" name="TextBox 42"/>
          <p:cNvSpPr txBox="1"/>
          <p:nvPr/>
        </p:nvSpPr>
        <p:spPr>
          <a:xfrm rot="16200000">
            <a:off x="2695073" y="5622356"/>
            <a:ext cx="960120" cy="27672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Leukemia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366074" y="2917767"/>
            <a:ext cx="171570" cy="1147156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28914" y="2762319"/>
            <a:ext cx="44589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0072B2"/>
                </a:solidFill>
                <a:latin typeface="Arial"/>
              </a:rPr>
              <a:t>+3</a:t>
            </a:r>
          </a:p>
        </p:txBody>
      </p:sp>
      <p:sp>
        <p:nvSpPr>
          <p:cNvPr id="46" name="TextBox 45"/>
          <p:cNvSpPr txBox="1"/>
          <p:nvPr/>
        </p:nvSpPr>
        <p:spPr>
          <a:xfrm rot="16200000">
            <a:off x="2971800" y="5622356"/>
            <a:ext cx="960120" cy="27672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Esophageal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42801" y="2917767"/>
            <a:ext cx="171570" cy="1147156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505641" y="2762319"/>
            <a:ext cx="44589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0072B2"/>
                </a:solidFill>
                <a:latin typeface="Arial"/>
              </a:rPr>
              <a:t>+3</a:t>
            </a:r>
          </a:p>
        </p:txBody>
      </p:sp>
      <p:sp>
        <p:nvSpPr>
          <p:cNvPr id="49" name="TextBox 48"/>
          <p:cNvSpPr txBox="1"/>
          <p:nvPr/>
        </p:nvSpPr>
        <p:spPr>
          <a:xfrm rot="16200000">
            <a:off x="3248526" y="5622356"/>
            <a:ext cx="960120" cy="27672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Stomach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919527" y="3300152"/>
            <a:ext cx="171570" cy="76477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782367" y="3144704"/>
            <a:ext cx="44589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0072B2"/>
                </a:solidFill>
                <a:latin typeface="Arial"/>
              </a:rPr>
              <a:t>+2</a:t>
            </a:r>
          </a:p>
        </p:txBody>
      </p:sp>
      <p:sp>
        <p:nvSpPr>
          <p:cNvPr id="52" name="TextBox 51"/>
          <p:cNvSpPr txBox="1"/>
          <p:nvPr/>
        </p:nvSpPr>
        <p:spPr>
          <a:xfrm rot="16200000">
            <a:off x="3525252" y="5622356"/>
            <a:ext cx="960120" cy="27672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Prostate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96253" y="3300152"/>
            <a:ext cx="171570" cy="76477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059093" y="3144704"/>
            <a:ext cx="44589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0072B2"/>
                </a:solidFill>
                <a:latin typeface="Arial"/>
              </a:rPr>
              <a:t>+2</a:t>
            </a:r>
          </a:p>
        </p:txBody>
      </p:sp>
      <p:sp>
        <p:nvSpPr>
          <p:cNvPr id="55" name="TextBox 54"/>
          <p:cNvSpPr txBox="1"/>
          <p:nvPr/>
        </p:nvSpPr>
        <p:spPr>
          <a:xfrm rot="16200000">
            <a:off x="3801978" y="5622356"/>
            <a:ext cx="960120" cy="27672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Endometrial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472980" y="3300152"/>
            <a:ext cx="171570" cy="76477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335820" y="3144704"/>
            <a:ext cx="44589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0072B2"/>
                </a:solidFill>
                <a:latin typeface="Arial"/>
              </a:rPr>
              <a:t>+2</a:t>
            </a:r>
          </a:p>
        </p:txBody>
      </p:sp>
      <p:sp>
        <p:nvSpPr>
          <p:cNvPr id="58" name="TextBox 57"/>
          <p:cNvSpPr txBox="1"/>
          <p:nvPr/>
        </p:nvSpPr>
        <p:spPr>
          <a:xfrm rot="16200000">
            <a:off x="4078705" y="5622356"/>
            <a:ext cx="960120" cy="27672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Breast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749706" y="3300152"/>
            <a:ext cx="171570" cy="76477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612546" y="3144704"/>
            <a:ext cx="44589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0072B2"/>
                </a:solidFill>
                <a:latin typeface="Arial"/>
              </a:rPr>
              <a:t>+2</a:t>
            </a:r>
          </a:p>
        </p:txBody>
      </p:sp>
      <p:sp>
        <p:nvSpPr>
          <p:cNvPr id="61" name="TextBox 60"/>
          <p:cNvSpPr txBox="1"/>
          <p:nvPr/>
        </p:nvSpPr>
        <p:spPr>
          <a:xfrm rot="16200000">
            <a:off x="4355431" y="5622356"/>
            <a:ext cx="960120" cy="27672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Bladder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026432" y="3300152"/>
            <a:ext cx="171570" cy="76477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889272" y="3144704"/>
            <a:ext cx="44589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0072B2"/>
                </a:solidFill>
                <a:latin typeface="Arial"/>
              </a:rPr>
              <a:t>+2</a:t>
            </a:r>
          </a:p>
        </p:txBody>
      </p:sp>
      <p:sp>
        <p:nvSpPr>
          <p:cNvPr id="64" name="TextBox 63"/>
          <p:cNvSpPr txBox="1"/>
          <p:nvPr/>
        </p:nvSpPr>
        <p:spPr>
          <a:xfrm rot="16200000">
            <a:off x="4632157" y="5622356"/>
            <a:ext cx="960120" cy="27672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Thyroid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165999" y="3909475"/>
            <a:ext cx="44589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0072B2"/>
                </a:solidFill>
                <a:latin typeface="Arial"/>
              </a:rPr>
              <a:t>0</a:t>
            </a:r>
          </a:p>
        </p:txBody>
      </p:sp>
      <p:sp>
        <p:nvSpPr>
          <p:cNvPr id="66" name="TextBox 65"/>
          <p:cNvSpPr txBox="1"/>
          <p:nvPr/>
        </p:nvSpPr>
        <p:spPr>
          <a:xfrm rot="16200000">
            <a:off x="4908884" y="5622356"/>
            <a:ext cx="960120" cy="27672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Lung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442725" y="3909475"/>
            <a:ext cx="44589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0072B2"/>
                </a:solidFill>
                <a:latin typeface="Arial"/>
              </a:rPr>
              <a:t>0</a:t>
            </a:r>
          </a:p>
        </p:txBody>
      </p:sp>
      <p:sp>
        <p:nvSpPr>
          <p:cNvPr id="68" name="TextBox 67"/>
          <p:cNvSpPr txBox="1"/>
          <p:nvPr/>
        </p:nvSpPr>
        <p:spPr>
          <a:xfrm rot="16200000">
            <a:off x="5185610" y="5622356"/>
            <a:ext cx="960120" cy="27672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Colorectal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856611" y="4064923"/>
            <a:ext cx="171570" cy="76477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719451" y="4838838"/>
            <a:ext cx="44589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0072B2"/>
                </a:solidFill>
                <a:latin typeface="Arial"/>
              </a:rPr>
              <a:t>−2</a:t>
            </a:r>
          </a:p>
        </p:txBody>
      </p:sp>
      <p:sp>
        <p:nvSpPr>
          <p:cNvPr id="71" name="TextBox 70"/>
          <p:cNvSpPr txBox="1"/>
          <p:nvPr/>
        </p:nvSpPr>
        <p:spPr>
          <a:xfrm rot="16200000">
            <a:off x="5462336" y="5622356"/>
            <a:ext cx="960120" cy="27672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Ovarian</a:t>
            </a:r>
          </a:p>
        </p:txBody>
      </p:sp>
      <p:sp>
        <p:nvSpPr>
          <p:cNvPr id="72" name="TextBox 71"/>
          <p:cNvSpPr txBox="1"/>
          <p:nvPr/>
        </p:nvSpPr>
        <p:spPr>
          <a:xfrm rot="16200000">
            <a:off x="-1783079" y="3026664"/>
            <a:ext cx="420624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222222"/>
                </a:solidFill>
                <a:latin typeface="Arial"/>
              </a:rPr>
              <a:t>Interaction (of 10 top-10 slots)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