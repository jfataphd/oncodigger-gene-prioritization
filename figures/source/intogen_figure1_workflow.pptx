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OncoDigger Analytical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04088"/>
            <a:ext cx="5486400" cy="2926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5486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Input: 19 Cancer-Specific PubMed Collections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051560"/>
            <a:ext cx="649224" cy="777240"/>
          </a:xfrm>
          <a:prstGeom prst="rect">
            <a:avLst/>
          </a:prstGeom>
          <a:solidFill>
            <a:srgbClr val="D1E6F1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88136"/>
            <a:ext cx="5577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52728"/>
            <a:ext cx="5577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Bladder,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Kidney,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Prostate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1051560"/>
            <a:ext cx="649224" cy="777240"/>
          </a:xfrm>
          <a:prstGeom prst="rect">
            <a:avLst/>
          </a:prstGeom>
          <a:solidFill>
            <a:srgbClr val="D1E6F1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088136"/>
            <a:ext cx="5577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Gyn/Breast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252728"/>
            <a:ext cx="5577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Breast,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Cervical,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Endometrial,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Ovarian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051560"/>
            <a:ext cx="649224" cy="777240"/>
          </a:xfrm>
          <a:prstGeom prst="rect">
            <a:avLst/>
          </a:prstGeom>
          <a:solidFill>
            <a:srgbClr val="D1E6F1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1088136"/>
            <a:ext cx="5577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1252728"/>
            <a:ext cx="5577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Colorectal,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Stomach, Liver,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Pancreatic,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Esophageal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1051560"/>
            <a:ext cx="649224" cy="777240"/>
          </a:xfrm>
          <a:prstGeom prst="rect">
            <a:avLst/>
          </a:prstGeom>
          <a:solidFill>
            <a:srgbClr val="D1E6F1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41448" y="1088136"/>
            <a:ext cx="5577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Thoracic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1252728"/>
            <a:ext cx="5577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Lung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1051560"/>
            <a:ext cx="649224" cy="777240"/>
          </a:xfrm>
          <a:prstGeom prst="rect">
            <a:avLst/>
          </a:prstGeom>
          <a:solidFill>
            <a:srgbClr val="D1E6F1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1088136"/>
            <a:ext cx="5577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Skin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1252728"/>
            <a:ext cx="5577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Melanoma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7327" y="1051560"/>
            <a:ext cx="649224" cy="777240"/>
          </a:xfrm>
          <a:prstGeom prst="rect">
            <a:avLst/>
          </a:prstGeom>
          <a:solidFill>
            <a:srgbClr val="D1E6F1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7" y="1088136"/>
            <a:ext cx="5577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CNS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7" y="1252728"/>
            <a:ext cx="5577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Brain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53127" y="1051560"/>
            <a:ext cx="649224" cy="777240"/>
          </a:xfrm>
          <a:prstGeom prst="rect">
            <a:avLst/>
          </a:prstGeom>
          <a:solidFill>
            <a:srgbClr val="D1E6F1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7" y="1088136"/>
            <a:ext cx="5577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7" y="1252728"/>
            <a:ext cx="5577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Leukemia,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Lymphoma,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Myeloma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38927" y="1051560"/>
            <a:ext cx="649224" cy="777240"/>
          </a:xfrm>
          <a:prstGeom prst="rect">
            <a:avLst/>
          </a:prstGeom>
          <a:solidFill>
            <a:srgbClr val="D1E6F1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7" y="1088136"/>
            <a:ext cx="5577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Endocrine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7" y="1252728"/>
            <a:ext cx="5577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Thyroid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63240" y="1828800"/>
            <a:ext cx="0" cy="128016"/>
          </a:xfrm>
          <a:prstGeom prst="line">
            <a:avLst/>
          </a:prstGeom>
          <a:ln w="190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20040" y="1956816"/>
            <a:ext cx="5486400" cy="292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956816"/>
            <a:ext cx="5486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OncoDigger Engine: 'mutation mutations' query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" y="2304288"/>
            <a:ext cx="1335024" cy="960120"/>
          </a:xfrm>
          <a:prstGeom prst="rect">
            <a:avLst/>
          </a:prstGeom>
          <a:solidFill>
            <a:srgbClr val="F2E9D3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2340864"/>
            <a:ext cx="12435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BM25 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2505456"/>
            <a:ext cx="1243584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Corpus-specific IDF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Title/MeSH/recency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multipliers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Top 1,000 abstracts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09928" y="2304288"/>
            <a:ext cx="1335024" cy="960120"/>
          </a:xfrm>
          <a:prstGeom prst="rect">
            <a:avLst/>
          </a:prstGeom>
          <a:solidFill>
            <a:srgbClr val="F2E9D3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55648" y="2340864"/>
            <a:ext cx="12435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Gene Enrichment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2505456"/>
            <a:ext cx="1243584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Rank-weighted paper mentions,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query-relevant vs. background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literature rate,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min. 2 supporting papers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81528" y="2304288"/>
            <a:ext cx="1335024" cy="960120"/>
          </a:xfrm>
          <a:prstGeom prst="rect">
            <a:avLst/>
          </a:prstGeom>
          <a:solidFill>
            <a:srgbClr val="F2E9D3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27248" y="2340864"/>
            <a:ext cx="12435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Vocabulary QC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7248" y="2505456"/>
            <a:ext cx="1243584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143 alias collisions,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8,203 nested names,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7 genes excluded,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82 suppression terms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53127" y="2304288"/>
            <a:ext cx="1335024" cy="960120"/>
          </a:xfrm>
          <a:prstGeom prst="rect">
            <a:avLst/>
          </a:prstGeom>
          <a:solidFill>
            <a:srgbClr val="F2E9D3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8847" y="2340864"/>
            <a:ext cx="124358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Reproducibility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8847" y="2505456"/>
            <a:ext cx="1243584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Fixed hash seed,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per-corpus cache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clearing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063240" y="3264408"/>
            <a:ext cx="0" cy="128016"/>
          </a:xfrm>
          <a:prstGeom prst="line">
            <a:avLst/>
          </a:prstGeom>
          <a:ln w="190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20040" y="3392424"/>
            <a:ext cx="5486400" cy="29260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392424"/>
            <a:ext cx="5486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Output: Ranked Gene Lists (top-k per cancer, PMID-traceable)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063240" y="3685032"/>
            <a:ext cx="0" cy="128016"/>
          </a:xfrm>
          <a:prstGeom prst="line">
            <a:avLst/>
          </a:prstGeom>
          <a:ln w="190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20040" y="3813048"/>
            <a:ext cx="5486400" cy="292608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3813048"/>
            <a:ext cx="5486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Analysis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" y="4160520"/>
            <a:ext cx="2688336" cy="1051560"/>
          </a:xfrm>
          <a:prstGeom prst="rect">
            <a:avLst/>
          </a:prstGeom>
          <a:solidFill>
            <a:srgbClr val="F6E7EF"/>
          </a:solidFill>
          <a:ln w="1270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4197096"/>
            <a:ext cx="2596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Benchmarking &amp; Controls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4361688"/>
            <a:ext cx="2596896" cy="8138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IntOGen driver Precision@k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Pooled-corpus control (cancer-aware vs. cancer-blind)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Frequency-only baseline (complete pipeline vs. counting)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99816" y="4160520"/>
            <a:ext cx="2688336" cy="1051560"/>
          </a:xfrm>
          <a:prstGeom prst="rect">
            <a:avLst/>
          </a:prstGeom>
          <a:solidFill>
            <a:srgbClr val="F6E7EF"/>
          </a:solidFill>
          <a:ln w="1270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45536" y="4197096"/>
            <a:ext cx="2596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Head-to-Head Benchmark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45536" y="4361688"/>
            <a:ext cx="2596896" cy="8138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vs. CancerMine, DISEASES 2.0,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PubTator 3.0 (all audited)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Same 19 cancers, same IntOGen reference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63240" y="5212079"/>
            <a:ext cx="0" cy="128016"/>
          </a:xfrm>
          <a:prstGeom prst="line">
            <a:avLst/>
          </a:prstGeom>
          <a:ln w="190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320040" y="5340095"/>
            <a:ext cx="5486400" cy="292608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5340095"/>
            <a:ext cx="5486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Findings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" y="5687567"/>
            <a:ext cx="2688336" cy="1371600"/>
          </a:xfrm>
          <a:prstGeom prst="rect">
            <a:avLst/>
          </a:prstGeom>
          <a:solidFill>
            <a:srgbClr val="F7E2D1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5724143"/>
            <a:ext cx="2596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OncoDigger vs. IntOGen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" y="5888735"/>
            <a:ext cx="2596896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• 93.7% mean Precision@10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  (95% cancer-bootstrap CI 88.9-97.4%)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• 78.9% exact cancer-type concordance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  (95% CI 74.2-83.2%)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• +25.8 pp exact vs. cancer-blind pooled control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• 5.9 cancer-specific genes/cancer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  beyond the pooled-corpus control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• +31.6 pp over frequency baseline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99816" y="5687567"/>
            <a:ext cx="2688336" cy="1371600"/>
          </a:xfrm>
          <a:prstGeom prst="rect">
            <a:avLst/>
          </a:prstGeom>
          <a:solidFill>
            <a:srgbClr val="F7E2D1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45536" y="5724143"/>
            <a:ext cx="2596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22222"/>
                </a:solidFill>
                <a:latin typeface="Arial"/>
              </a:rPr>
              <a:t>System-Level Comparison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45536" y="5888735"/>
            <a:ext cx="2596896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• CancerMine: 87.9% (95% CI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  0.5-11.6pp advantage)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• DISEASES 2.0 / PubTator 3.0: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  60.0% / 67.9% (broader scope)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• ChatGPT: 78.9% (practical</a:t>
            </a:r>
          </a:p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  baseline, not a peer system)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