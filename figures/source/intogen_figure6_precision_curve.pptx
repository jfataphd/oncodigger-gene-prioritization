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126480" cy="868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54864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Precision@k against IntOGen driver genes across 19 cancer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840" y="1005840"/>
            <a:ext cx="839755" cy="393192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22960"/>
            <a:ext cx="83975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Arial"/>
              </a:rPr>
              <a:t>Ranks 1–10</a:t>
            </a:r>
          </a:p>
        </p:txBody>
      </p:sp>
      <p:sp>
        <p:nvSpPr>
          <p:cNvPr id="5" name="Rectangle 4"/>
          <p:cNvSpPr/>
          <p:nvPr/>
        </p:nvSpPr>
        <p:spPr>
          <a:xfrm>
            <a:off x="1845595" y="1005840"/>
            <a:ext cx="933061" cy="3931920"/>
          </a:xfrm>
          <a:prstGeom prst="rect">
            <a:avLst/>
          </a:prstGeom>
          <a:solidFill>
            <a:srgbClr val="E6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45595" y="822960"/>
            <a:ext cx="933061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Arial"/>
              </a:rPr>
              <a:t>Ranks 11–20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78656" y="1005840"/>
            <a:ext cx="933061" cy="3931920"/>
          </a:xfrm>
          <a:prstGeom prst="rect">
            <a:avLst/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78656" y="822960"/>
            <a:ext cx="933061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Arial"/>
              </a:rPr>
              <a:t>Ranks 21–30</a:t>
            </a:r>
          </a:p>
        </p:txBody>
      </p:sp>
      <p:sp>
        <p:nvSpPr>
          <p:cNvPr id="9" name="Rectangle 8"/>
          <p:cNvSpPr/>
          <p:nvPr/>
        </p:nvSpPr>
        <p:spPr>
          <a:xfrm>
            <a:off x="3711717" y="1005840"/>
            <a:ext cx="1866122" cy="3931920"/>
          </a:xfrm>
          <a:prstGeom prst="rect">
            <a:avLst/>
          </a:prstGeom>
          <a:solidFill>
            <a:srgbClr val="F3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1717" y="822960"/>
            <a:ext cx="186612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Arial"/>
              </a:rPr>
              <a:t>Ranks 31–50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64608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78224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9184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505456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60%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719072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932688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74336"/>
            <a:ext cx="5486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1275" y="4974336"/>
            <a:ext cx="5486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4336" y="4974336"/>
            <a:ext cx="5486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37397" y="4974336"/>
            <a:ext cx="5486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458" y="4974336"/>
            <a:ext cx="5486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974336"/>
            <a:ext cx="5486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50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5840" y="1005840"/>
            <a:ext cx="0" cy="3931920"/>
          </a:xfrm>
          <a:prstGeom prst="line">
            <a:avLst/>
          </a:prstGeom>
          <a:ln w="952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05840" y="4937760"/>
            <a:ext cx="4572000" cy="0"/>
          </a:xfrm>
          <a:prstGeom prst="line">
            <a:avLst/>
          </a:prstGeom>
          <a:ln w="952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05840" y="5157216"/>
            <a:ext cx="4572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OncoDigger gene rank (k)</a:t>
            </a:r>
          </a:p>
        </p:txBody>
      </p:sp>
      <p:sp>
        <p:nvSpPr>
          <p:cNvPr id="26" name="TextBox 25"/>
          <p:cNvSpPr txBox="1"/>
          <p:nvPr/>
        </p:nvSpPr>
        <p:spPr>
          <a:xfrm rot="16200000">
            <a:off x="-1554479" y="2889504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Cumulative IntOGen driver precision@k</a:t>
            </a:r>
          </a:p>
        </p:txBody>
      </p:sp>
      <p:sp>
        <p:nvSpPr>
          <p:cNvPr id="27" name="Freeform 26"/>
          <p:cNvSpPr/>
          <p:nvPr/>
        </p:nvSpPr>
        <p:spPr>
          <a:xfrm>
            <a:off x="1005840" y="1005840"/>
            <a:ext cx="4572000" cy="1026541"/>
          </a:xfrm>
          <a:custGeom>
            <a:avLst/>
            <a:gdLst/>
            <a:ahLst/>
            <a:cxnLst/>
            <a:rect l="l" t="t" r="r" b="b"/>
            <a:pathLst>
              <a:path w="4572000" h="1026541">
                <a:moveTo>
                  <a:pt x="0" y="0"/>
                </a:moveTo>
                <a:lnTo>
                  <a:pt x="93306" y="0"/>
                </a:lnTo>
                <a:lnTo>
                  <a:pt x="186612" y="0"/>
                </a:lnTo>
                <a:lnTo>
                  <a:pt x="279918" y="0"/>
                </a:lnTo>
                <a:lnTo>
                  <a:pt x="373224" y="0"/>
                </a:lnTo>
                <a:lnTo>
                  <a:pt x="466530" y="34490"/>
                </a:lnTo>
                <a:lnTo>
                  <a:pt x="559836" y="29563"/>
                </a:lnTo>
                <a:lnTo>
                  <a:pt x="653142" y="25867"/>
                </a:lnTo>
                <a:lnTo>
                  <a:pt x="746448" y="68981"/>
                </a:lnTo>
                <a:lnTo>
                  <a:pt x="839755" y="103471"/>
                </a:lnTo>
                <a:lnTo>
                  <a:pt x="933061" y="112878"/>
                </a:lnTo>
                <a:lnTo>
                  <a:pt x="1026367" y="120716"/>
                </a:lnTo>
                <a:lnTo>
                  <a:pt x="1119673" y="159187"/>
                </a:lnTo>
                <a:lnTo>
                  <a:pt x="1212979" y="177379"/>
                </a:lnTo>
                <a:lnTo>
                  <a:pt x="1306285" y="193146"/>
                </a:lnTo>
                <a:lnTo>
                  <a:pt x="1399591" y="232811"/>
                </a:lnTo>
                <a:lnTo>
                  <a:pt x="1492897" y="255635"/>
                </a:lnTo>
                <a:lnTo>
                  <a:pt x="1586204" y="275924"/>
                </a:lnTo>
                <a:lnTo>
                  <a:pt x="1679510" y="261401"/>
                </a:lnTo>
                <a:lnTo>
                  <a:pt x="1772816" y="269026"/>
                </a:lnTo>
                <a:lnTo>
                  <a:pt x="1866122" y="285778"/>
                </a:lnTo>
                <a:lnTo>
                  <a:pt x="1959428" y="310414"/>
                </a:lnTo>
                <a:lnTo>
                  <a:pt x="2052734" y="350903"/>
                </a:lnTo>
                <a:lnTo>
                  <a:pt x="2146040" y="344905"/>
                </a:lnTo>
                <a:lnTo>
                  <a:pt x="2239346" y="372497"/>
                </a:lnTo>
                <a:lnTo>
                  <a:pt x="2332653" y="382048"/>
                </a:lnTo>
                <a:lnTo>
                  <a:pt x="2425959" y="375563"/>
                </a:lnTo>
                <a:lnTo>
                  <a:pt x="2519265" y="384323"/>
                </a:lnTo>
                <a:lnTo>
                  <a:pt x="2612571" y="413886"/>
                </a:lnTo>
                <a:lnTo>
                  <a:pt x="2705877" y="427682"/>
                </a:lnTo>
                <a:lnTo>
                  <a:pt x="2799183" y="453939"/>
                </a:lnTo>
                <a:lnTo>
                  <a:pt x="2892489" y="472089"/>
                </a:lnTo>
                <a:lnTo>
                  <a:pt x="2985795" y="470325"/>
                </a:lnTo>
                <a:lnTo>
                  <a:pt x="3079102" y="480838"/>
                </a:lnTo>
                <a:lnTo>
                  <a:pt x="3172408" y="490603"/>
                </a:lnTo>
                <a:lnTo>
                  <a:pt x="3265714" y="482867"/>
                </a:lnTo>
                <a:lnTo>
                  <a:pt x="3359020" y="503375"/>
                </a:lnTo>
                <a:lnTo>
                  <a:pt x="3452326" y="522803"/>
                </a:lnTo>
                <a:lnTo>
                  <a:pt x="3545632" y="557154"/>
                </a:lnTo>
                <a:lnTo>
                  <a:pt x="3638938" y="589788"/>
                </a:lnTo>
                <a:lnTo>
                  <a:pt x="3732244" y="590545"/>
                </a:lnTo>
                <a:lnTo>
                  <a:pt x="3825551" y="610975"/>
                </a:lnTo>
                <a:lnTo>
                  <a:pt x="3918857" y="620829"/>
                </a:lnTo>
                <a:lnTo>
                  <a:pt x="4012163" y="634939"/>
                </a:lnTo>
                <a:lnTo>
                  <a:pt x="4105469" y="653020"/>
                </a:lnTo>
                <a:lnTo>
                  <a:pt x="4198775" y="674814"/>
                </a:lnTo>
                <a:lnTo>
                  <a:pt x="4292081" y="691278"/>
                </a:lnTo>
                <a:lnTo>
                  <a:pt x="4385387" y="702744"/>
                </a:lnTo>
                <a:lnTo>
                  <a:pt x="4478693" y="717966"/>
                </a:lnTo>
                <a:lnTo>
                  <a:pt x="4572000" y="736717"/>
                </a:lnTo>
                <a:lnTo>
                  <a:pt x="4572000" y="1026541"/>
                </a:lnTo>
                <a:lnTo>
                  <a:pt x="4478693" y="1005258"/>
                </a:lnTo>
                <a:lnTo>
                  <a:pt x="4385387" y="991602"/>
                </a:lnTo>
                <a:lnTo>
                  <a:pt x="4292081" y="990685"/>
                </a:lnTo>
                <a:lnTo>
                  <a:pt x="4198775" y="976231"/>
                </a:lnTo>
                <a:lnTo>
                  <a:pt x="4105469" y="961136"/>
                </a:lnTo>
                <a:lnTo>
                  <a:pt x="4012163" y="940650"/>
                </a:lnTo>
                <a:lnTo>
                  <a:pt x="3918857" y="914400"/>
                </a:lnTo>
                <a:lnTo>
                  <a:pt x="3825551" y="906608"/>
                </a:lnTo>
                <a:lnTo>
                  <a:pt x="3732244" y="873199"/>
                </a:lnTo>
                <a:lnTo>
                  <a:pt x="3638938" y="874334"/>
                </a:lnTo>
                <a:lnTo>
                  <a:pt x="3545632" y="870222"/>
                </a:lnTo>
                <a:lnTo>
                  <a:pt x="3452326" y="855001"/>
                </a:lnTo>
                <a:lnTo>
                  <a:pt x="3359020" y="827772"/>
                </a:lnTo>
                <a:lnTo>
                  <a:pt x="3265714" y="804778"/>
                </a:lnTo>
                <a:lnTo>
                  <a:pt x="3172408" y="815947"/>
                </a:lnTo>
                <a:lnTo>
                  <a:pt x="3079102" y="803426"/>
                </a:lnTo>
                <a:lnTo>
                  <a:pt x="2985795" y="783875"/>
                </a:lnTo>
                <a:lnTo>
                  <a:pt x="2892489" y="795437"/>
                </a:lnTo>
                <a:lnTo>
                  <a:pt x="2799183" y="794394"/>
                </a:lnTo>
                <a:lnTo>
                  <a:pt x="2705877" y="765862"/>
                </a:lnTo>
                <a:lnTo>
                  <a:pt x="2612571" y="763548"/>
                </a:lnTo>
                <a:lnTo>
                  <a:pt x="2519265" y="739082"/>
                </a:lnTo>
                <a:lnTo>
                  <a:pt x="2425959" y="743462"/>
                </a:lnTo>
                <a:lnTo>
                  <a:pt x="2332653" y="756138"/>
                </a:lnTo>
                <a:lnTo>
                  <a:pt x="2239346" y="728439"/>
                </a:lnTo>
                <a:lnTo>
                  <a:pt x="2146040" y="707055"/>
                </a:lnTo>
                <a:lnTo>
                  <a:pt x="2052734" y="719802"/>
                </a:lnTo>
                <a:lnTo>
                  <a:pt x="1959428" y="658455"/>
                </a:lnTo>
                <a:lnTo>
                  <a:pt x="1866122" y="640538"/>
                </a:lnTo>
                <a:lnTo>
                  <a:pt x="1772816" y="631176"/>
                </a:lnTo>
                <a:lnTo>
                  <a:pt x="1679510" y="653504"/>
                </a:lnTo>
                <a:lnTo>
                  <a:pt x="1586204" y="666816"/>
                </a:lnTo>
                <a:lnTo>
                  <a:pt x="1492897" y="645175"/>
                </a:lnTo>
                <a:lnTo>
                  <a:pt x="1399591" y="608218"/>
                </a:lnTo>
                <a:lnTo>
                  <a:pt x="1306285" y="593237"/>
                </a:lnTo>
                <a:lnTo>
                  <a:pt x="1212979" y="576484"/>
                </a:lnTo>
                <a:lnTo>
                  <a:pt x="1119673" y="493877"/>
                </a:lnTo>
                <a:lnTo>
                  <a:pt x="1026367" y="413886"/>
                </a:lnTo>
                <a:lnTo>
                  <a:pt x="933061" y="432699"/>
                </a:lnTo>
                <a:lnTo>
                  <a:pt x="839755" y="434580"/>
                </a:lnTo>
                <a:lnTo>
                  <a:pt x="746448" y="390892"/>
                </a:lnTo>
                <a:lnTo>
                  <a:pt x="653142" y="310414"/>
                </a:lnTo>
                <a:lnTo>
                  <a:pt x="559836" y="295633"/>
                </a:lnTo>
                <a:lnTo>
                  <a:pt x="466530" y="275924"/>
                </a:lnTo>
                <a:lnTo>
                  <a:pt x="373224" y="206943"/>
                </a:lnTo>
                <a:lnTo>
                  <a:pt x="279918" y="0"/>
                </a:lnTo>
                <a:lnTo>
                  <a:pt x="186612" y="0"/>
                </a:lnTo>
                <a:lnTo>
                  <a:pt x="9330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72B2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005840" y="1005840"/>
            <a:ext cx="93306" cy="0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99146" y="1005840"/>
            <a:ext cx="93306" cy="0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92452" y="1005840"/>
            <a:ext cx="93306" cy="0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285758" y="1005840"/>
            <a:ext cx="93306" cy="82777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379064" y="1088617"/>
            <a:ext cx="93306" cy="55185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472370" y="1143802"/>
            <a:ext cx="93306" cy="9854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565676" y="1153656"/>
            <a:ext cx="93306" cy="7391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658982" y="1161047"/>
            <a:ext cx="93306" cy="51736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752288" y="1212783"/>
            <a:ext cx="93307" cy="41388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845595" y="1254171"/>
            <a:ext cx="93306" cy="15051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938901" y="1264518"/>
            <a:ext cx="93306" cy="4704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032207" y="1264518"/>
            <a:ext cx="93306" cy="59696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125513" y="1324214"/>
            <a:ext cx="93306" cy="51167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218819" y="1375381"/>
            <a:ext cx="93306" cy="16752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12125" y="1392133"/>
            <a:ext cx="93306" cy="27593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405431" y="1419726"/>
            <a:ext cx="93306" cy="24346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498737" y="1444072"/>
            <a:ext cx="93307" cy="21641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592044" y="1452401"/>
            <a:ext cx="93306" cy="13312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685350" y="1450767"/>
            <a:ext cx="93306" cy="1634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778656" y="1450767"/>
            <a:ext cx="93306" cy="8377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871962" y="1459144"/>
            <a:ext cx="93306" cy="26427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965268" y="1485571"/>
            <a:ext cx="93306" cy="51123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058574" y="1531820"/>
            <a:ext cx="93306" cy="4874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151880" y="1531820"/>
            <a:ext cx="93306" cy="20349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245186" y="1552169"/>
            <a:ext cx="93307" cy="18785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338493" y="1565352"/>
            <a:ext cx="93306" cy="5602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431799" y="1565352"/>
            <a:ext cx="93306" cy="2190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525105" y="1567542"/>
            <a:ext cx="93306" cy="23447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618411" y="1590989"/>
            <a:ext cx="93306" cy="8088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711717" y="1599077"/>
            <a:ext cx="93306" cy="27592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805023" y="1626669"/>
            <a:ext cx="93306" cy="6467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898329" y="1632940"/>
            <a:ext cx="93306" cy="196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991635" y="1632940"/>
            <a:ext cx="93307" cy="11989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084942" y="1644929"/>
            <a:ext cx="93306" cy="11303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178248" y="1649663"/>
            <a:ext cx="93306" cy="6569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271554" y="1649663"/>
            <a:ext cx="93306" cy="21750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364860" y="1671413"/>
            <a:ext cx="93306" cy="20606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458166" y="1692019"/>
            <a:ext cx="93306" cy="24856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551472" y="1716875"/>
            <a:ext cx="93306" cy="18439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644778" y="1735314"/>
            <a:ext cx="93306" cy="2398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738084" y="1737712"/>
            <a:ext cx="93307" cy="26919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831391" y="1764631"/>
            <a:ext cx="93306" cy="6417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924697" y="1771048"/>
            <a:ext cx="93306" cy="20235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018003" y="1791283"/>
            <a:ext cx="93306" cy="19335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111309" y="1810618"/>
            <a:ext cx="93306" cy="18495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5204615" y="1829113"/>
            <a:ext cx="93306" cy="13305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297921" y="1842418"/>
            <a:ext cx="93306" cy="8439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391227" y="1850857"/>
            <a:ext cx="93306" cy="16542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484533" y="1867399"/>
            <a:ext cx="93307" cy="20018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05840" y="4808466"/>
            <a:ext cx="4572000" cy="0"/>
          </a:xfrm>
          <a:prstGeom prst="line">
            <a:avLst/>
          </a:prstGeom>
          <a:ln w="12700">
            <a:solidFill>
              <a:srgbClr val="D55E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1342488" y="1052041"/>
            <a:ext cx="73152" cy="73152"/>
          </a:xfrm>
          <a:prstGeom prst="ellipse">
            <a:avLst/>
          </a:prstGeom>
          <a:solidFill>
            <a:srgbClr val="08306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40736" y="1198345"/>
            <a:ext cx="5486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k=5</a:t>
            </a:r>
          </a:p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97.9%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379064" y="1134337"/>
            <a:ext cx="0" cy="54864"/>
          </a:xfrm>
          <a:prstGeom prst="line">
            <a:avLst/>
          </a:prstGeom>
          <a:ln w="6350">
            <a:solidFill>
              <a:srgbClr val="55555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1809019" y="1217595"/>
            <a:ext cx="73152" cy="73152"/>
          </a:xfrm>
          <a:prstGeom prst="ellipse">
            <a:avLst/>
          </a:prstGeom>
          <a:solidFill>
            <a:srgbClr val="08306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635283" y="1363899"/>
            <a:ext cx="5486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k=10</a:t>
            </a:r>
          </a:p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93.7%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1845595" y="1299891"/>
            <a:ext cx="0" cy="54864"/>
          </a:xfrm>
          <a:prstGeom prst="line">
            <a:avLst/>
          </a:prstGeom>
          <a:ln w="6350">
            <a:solidFill>
              <a:srgbClr val="55555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2742080" y="1414191"/>
            <a:ext cx="73152" cy="73152"/>
          </a:xfrm>
          <a:prstGeom prst="ellipse">
            <a:avLst/>
          </a:prstGeom>
          <a:solidFill>
            <a:srgbClr val="08306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504336" y="1560495"/>
            <a:ext cx="5486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k=20</a:t>
            </a:r>
          </a:p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88.7%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2778656" y="1496487"/>
            <a:ext cx="0" cy="54864"/>
          </a:xfrm>
          <a:prstGeom prst="line">
            <a:avLst/>
          </a:prstGeom>
          <a:ln w="6350">
            <a:solidFill>
              <a:srgbClr val="55555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3675141" y="1562501"/>
            <a:ext cx="73152" cy="73152"/>
          </a:xfrm>
          <a:prstGeom prst="ellipse">
            <a:avLst/>
          </a:prstGeom>
          <a:solidFill>
            <a:srgbClr val="08306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437397" y="1708805"/>
            <a:ext cx="5486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k=30</a:t>
            </a:r>
          </a:p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84.9%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3711717" y="1644797"/>
            <a:ext cx="0" cy="54864"/>
          </a:xfrm>
          <a:prstGeom prst="line">
            <a:avLst/>
          </a:prstGeom>
          <a:ln w="6350">
            <a:solidFill>
              <a:srgbClr val="55555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4608202" y="1698738"/>
            <a:ext cx="73152" cy="73152"/>
          </a:xfrm>
          <a:prstGeom prst="ellipse">
            <a:avLst/>
          </a:prstGeom>
          <a:solidFill>
            <a:srgbClr val="08306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370458" y="1845042"/>
            <a:ext cx="5486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k=40</a:t>
            </a:r>
          </a:p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81.4%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4644778" y="1781034"/>
            <a:ext cx="0" cy="54864"/>
          </a:xfrm>
          <a:prstGeom prst="line">
            <a:avLst/>
          </a:prstGeom>
          <a:ln w="6350">
            <a:solidFill>
              <a:srgbClr val="55555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5541264" y="1850841"/>
            <a:ext cx="73152" cy="73152"/>
          </a:xfrm>
          <a:prstGeom prst="ellipse">
            <a:avLst/>
          </a:prstGeom>
          <a:solidFill>
            <a:srgbClr val="08306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303520" y="1997145"/>
            <a:ext cx="5486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k=50</a:t>
            </a:r>
          </a:p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77.6%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5577840" y="1933137"/>
            <a:ext cx="0" cy="54864"/>
          </a:xfrm>
          <a:prstGeom prst="line">
            <a:avLst/>
          </a:prstGeom>
          <a:ln w="6350">
            <a:solidFill>
              <a:srgbClr val="55555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1097280" y="2352421"/>
            <a:ext cx="155448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222222"/>
                </a:solidFill>
                <a:latin typeface="Arial"/>
              </a:rPr>
              <a:t>Cancer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651760" y="2352421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222222"/>
                </a:solidFill>
                <a:latin typeface="Arial"/>
              </a:rPr>
              <a:t>P@10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971800" y="2352421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222222"/>
                </a:solidFill>
                <a:latin typeface="Arial"/>
              </a:rPr>
              <a:t>P@50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97280" y="2560735"/>
            <a:ext cx="155448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Leukemia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651760" y="2560735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100%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971800" y="2560735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96%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97280" y="2769049"/>
            <a:ext cx="155448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Lymphoma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51760" y="2769049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100%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971800" y="2769049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92%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97280" y="2977363"/>
            <a:ext cx="155448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Cervical Cancer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651760" y="2977363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100%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971800" y="2977363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90%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97280" y="3185677"/>
            <a:ext cx="155448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Esophageal Cancer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651760" y="3185677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100%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971800" y="3185677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82%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97280" y="3393990"/>
            <a:ext cx="155448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Melanoma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651760" y="3393990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100%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971800" y="3393990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82%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3602304"/>
            <a:ext cx="155448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Lung Cancer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651760" y="3602304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100%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971800" y="3602304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80%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97280" y="3810618"/>
            <a:ext cx="155448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Bladder Cancer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651760" y="3810618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100%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971800" y="3810618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78%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97280" y="4018932"/>
            <a:ext cx="155448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Stomach Cancer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651760" y="4018932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100%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971800" y="4018932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78%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97280" y="4227246"/>
            <a:ext cx="155448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Pancreatic Cancer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651760" y="4227246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100%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971800" y="4227246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74%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97280" y="4435560"/>
            <a:ext cx="155448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Thyroid Cancer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651760" y="4435560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100%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971800" y="4435560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72%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1097280" y="2560735"/>
            <a:ext cx="2194560" cy="0"/>
          </a:xfrm>
          <a:prstGeom prst="line">
            <a:avLst/>
          </a:prstGeom>
          <a:ln w="63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3383280" y="2352421"/>
            <a:ext cx="155448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222222"/>
                </a:solidFill>
                <a:latin typeface="Arial"/>
              </a:rPr>
              <a:t>Cancer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937760" y="2352421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222222"/>
                </a:solidFill>
                <a:latin typeface="Arial"/>
              </a:rPr>
              <a:t>P@10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257800" y="2352421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222222"/>
                </a:solidFill>
                <a:latin typeface="Arial"/>
              </a:rPr>
              <a:t>P@50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383280" y="2560735"/>
            <a:ext cx="155448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Breast Cancer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937760" y="2560735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100%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257800" y="2560735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68%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383280" y="2769049"/>
            <a:ext cx="155448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Liver Cancer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937760" y="2769049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90%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257800" y="2769049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86%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383280" y="2977363"/>
            <a:ext cx="155448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Brain Cancer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937760" y="2977363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90%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257800" y="2977363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74%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383280" y="3185677"/>
            <a:ext cx="155448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Myeloma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937760" y="3185677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90%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257800" y="3185677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70%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383280" y="3393990"/>
            <a:ext cx="155448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Ovarian Cancer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937760" y="3393990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90%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257800" y="3393990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70%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383280" y="3602304"/>
            <a:ext cx="155448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Kidney Cancer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937760" y="3602304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90%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257800" y="3602304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68%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383280" y="3810618"/>
            <a:ext cx="155448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Prostate Cancer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937760" y="3810618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90%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257800" y="3810618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64%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383280" y="4018932"/>
            <a:ext cx="155448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Endometrial Cancer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937760" y="4018932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70%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257800" y="4018932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76%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383280" y="4227246"/>
            <a:ext cx="155448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Colorectal Cancer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937760" y="4227246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70%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257800" y="4227246"/>
            <a:ext cx="320040" cy="208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74%</a:t>
            </a:r>
          </a:p>
        </p:txBody>
      </p:sp>
      <p:cxnSp>
        <p:nvCxnSpPr>
          <p:cNvPr id="160" name="Connector 159"/>
          <p:cNvCxnSpPr/>
          <p:nvPr/>
        </p:nvCxnSpPr>
        <p:spPr>
          <a:xfrm>
            <a:off x="3383280" y="2560735"/>
            <a:ext cx="2194560" cy="0"/>
          </a:xfrm>
          <a:prstGeom prst="line">
            <a:avLst/>
          </a:prstGeom>
          <a:ln w="63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05840" y="5513832"/>
            <a:ext cx="274320" cy="0"/>
          </a:xfrm>
          <a:prstGeom prst="line">
            <a:avLst/>
          </a:prstGeom>
          <a:ln w="28575">
            <a:solidFill>
              <a:srgbClr val="083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TextBox 161"/>
          <p:cNvSpPr txBox="1"/>
          <p:nvPr/>
        </p:nvSpPr>
        <p:spPr>
          <a:xfrm>
            <a:off x="1335024" y="5440680"/>
            <a:ext cx="11887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Mean (19 cancers)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468880" y="5458968"/>
            <a:ext cx="228600" cy="109728"/>
          </a:xfrm>
          <a:prstGeom prst="rect">
            <a:avLst/>
          </a:prstGeom>
          <a:solidFill>
            <a:srgbClr val="BFD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743200" y="5440680"/>
            <a:ext cx="11887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95% bootstrap CI</a:t>
            </a:r>
          </a:p>
        </p:txBody>
      </p:sp>
      <p:cxnSp>
        <p:nvCxnSpPr>
          <p:cNvPr id="165" name="Connector 164"/>
          <p:cNvCxnSpPr/>
          <p:nvPr/>
        </p:nvCxnSpPr>
        <p:spPr>
          <a:xfrm>
            <a:off x="3840480" y="5513832"/>
            <a:ext cx="274320" cy="0"/>
          </a:xfrm>
          <a:prstGeom prst="line">
            <a:avLst/>
          </a:prstGeom>
          <a:ln w="12700">
            <a:solidFill>
              <a:srgbClr val="D55E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4169664" y="5440680"/>
            <a:ext cx="1645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Random (3.3%)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