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648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(A)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Mean Precision@10 vs IntOGen (any cancer type)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97280" y="2862072"/>
            <a:ext cx="45720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59" y="27889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382012"/>
            <a:ext cx="45720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59" y="230886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25%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901952"/>
            <a:ext cx="45720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59" y="182880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50%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1421891"/>
            <a:ext cx="45720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59" y="1348739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75%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941831"/>
            <a:ext cx="45720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59" y="868679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0" y="941832"/>
            <a:ext cx="0" cy="192024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" y="2862072"/>
            <a:ext cx="457200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58137" y="1063110"/>
            <a:ext cx="566928" cy="1798961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8137" y="1117974"/>
            <a:ext cx="5669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93.7%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0977" y="2898648"/>
            <a:ext cx="841247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72B2"/>
                </a:solidFill>
                <a:latin typeface="Arial"/>
              </a:rPr>
              <a:t>OncoDigger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0977" y="3172968"/>
            <a:ext cx="84124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(19 cancers)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85923" y="1174282"/>
            <a:ext cx="566928" cy="1687789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85923" y="1229146"/>
            <a:ext cx="5669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87.9%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7323" y="1009690"/>
            <a:ext cx="10241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22222"/>
                </a:solidFill>
                <a:latin typeface="Arial"/>
              </a:rPr>
              <a:t>Δ 0.5 to 11.6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7323" y="872530"/>
            <a:ext cx="1024128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444444"/>
                </a:solidFill>
                <a:latin typeface="Arial"/>
              </a:rPr>
              <a:t>p = 0.053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8763" y="2898648"/>
            <a:ext cx="841247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55E00"/>
                </a:solidFill>
                <a:latin typeface="Arial"/>
              </a:rPr>
              <a:t>CancerMine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8763" y="3172968"/>
            <a:ext cx="84124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(19; audited)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3708" y="1709928"/>
            <a:ext cx="566928" cy="115214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2268" y="1536192"/>
            <a:ext cx="74980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9E73"/>
                </a:solidFill>
                <a:latin typeface="Arial"/>
              </a:rPr>
              <a:t>60.0%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5108" y="1371600"/>
            <a:ext cx="10241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22222"/>
                </a:solidFill>
                <a:latin typeface="Arial"/>
              </a:rPr>
              <a:t>Δ 25.3 to 42.6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5108" y="1234439"/>
            <a:ext cx="1024128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444444"/>
                </a:solidFill>
                <a:latin typeface="Arial"/>
              </a:rPr>
              <a:t>p &lt; 0.0001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6548" y="2898648"/>
            <a:ext cx="841247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9E73"/>
                </a:solidFill>
                <a:latin typeface="Arial"/>
              </a:rPr>
              <a:t>DISEASES</a:t>
            </a:r>
          </a:p>
          <a:p>
            <a:pPr algn="ctr"/>
            <a:r>
              <a:rPr sz="800" b="1" i="0">
                <a:solidFill>
                  <a:srgbClr val="009E73"/>
                </a:solidFill>
                <a:latin typeface="Arial"/>
              </a:rPr>
              <a:t>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6548" y="3172968"/>
            <a:ext cx="84124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(19)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1494" y="1558330"/>
            <a:ext cx="566928" cy="1303741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0054" y="1384594"/>
            <a:ext cx="74980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C79A7"/>
                </a:solidFill>
                <a:latin typeface="Arial"/>
              </a:rPr>
              <a:t>67.9%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2894" y="1220002"/>
            <a:ext cx="10241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22222"/>
                </a:solidFill>
                <a:latin typeface="Arial"/>
              </a:rPr>
              <a:t>Δ 19.5 to 31.6 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2894" y="1082842"/>
            <a:ext cx="1024128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444444"/>
                </a:solidFill>
                <a:latin typeface="Arial"/>
              </a:rPr>
              <a:t>p &lt; 0.0001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4334" y="2898648"/>
            <a:ext cx="841247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C79A7"/>
                </a:solidFill>
                <a:latin typeface="Arial"/>
              </a:rPr>
              <a:t>PubTator</a:t>
            </a:r>
          </a:p>
          <a:p>
            <a:pPr algn="ctr"/>
            <a:r>
              <a:rPr sz="800" b="1" i="0">
                <a:solidFill>
                  <a:srgbClr val="CC79A7"/>
                </a:solidFill>
                <a:latin typeface="Arial"/>
              </a:rPr>
              <a:t>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4334" y="3172968"/>
            <a:ext cx="84124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(19; subtype-aggregated)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-457200" y="1819656"/>
            <a:ext cx="192024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Mean P@10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392424"/>
            <a:ext cx="45720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1">
                <a:solidFill>
                  <a:srgbClr val="555555"/>
                </a:solidFill>
                <a:latin typeface="Arial"/>
              </a:rPr>
              <a:t>Δ: 95% paired cancer-bootstrap CI vs OncoDigger (primary); p-values: paired t-test (secondary)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56616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(B)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Per-cancer Precision@10: OncoDigger vs CancerMine (audited)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45919" y="4069080"/>
            <a:ext cx="0" cy="2258568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417319" y="6364224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37460" y="4069080"/>
            <a:ext cx="0" cy="2258568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308860" y="6364224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25%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429000" y="4069080"/>
            <a:ext cx="0" cy="2258568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00400" y="6364224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50%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320540" y="4069080"/>
            <a:ext cx="0" cy="2258568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091939" y="6364224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75%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212079" y="4069080"/>
            <a:ext cx="0" cy="2258568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983479" y="6364224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645919" y="6327648"/>
            <a:ext cx="356616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645919" y="4069080"/>
            <a:ext cx="0" cy="2258568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645919" y="6528816"/>
            <a:ext cx="35661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Precision@10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4055364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Esophageal Cancer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785615" y="4128516"/>
            <a:ext cx="1426464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751326" y="4094226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177790" y="4094226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85231" y="4055364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+40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4174236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Stomach Cancer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498848" y="4247388"/>
            <a:ext cx="713231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4464558" y="4213098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177790" y="4213098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85231" y="4174236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" y="4293108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Bladder Cancer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855464" y="4366260"/>
            <a:ext cx="356615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4821174" y="4331970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177790" y="4331970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85231" y="429310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4411980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Breast Cancer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855464" y="4485132"/>
            <a:ext cx="356615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821174" y="4450842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177790" y="4450842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85231" y="441198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4530852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Brain Cancer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498848" y="4604004"/>
            <a:ext cx="356616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464558" y="4569714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821174" y="4569714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85231" y="4530852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0040" y="4649724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Liver Cancer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498848" y="4722876"/>
            <a:ext cx="356616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4464558" y="4688586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821174" y="4688586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85231" y="4649724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" y="4768596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Leukemia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855464" y="4841748"/>
            <a:ext cx="356615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821174" y="4807458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177790" y="4807458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85231" y="4768596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0040" y="4887468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Myeloma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498848" y="4960620"/>
            <a:ext cx="356616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4464558" y="4926330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821174" y="4926330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85231" y="488746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0040" y="5006340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Pancreatic Cancer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855464" y="5079492"/>
            <a:ext cx="356615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4821174" y="5045202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177790" y="5045202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85231" y="500634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0040" y="5125212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Melanoma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855464" y="5198364"/>
            <a:ext cx="356615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4821174" y="5164074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177790" y="5164074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85231" y="5125212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0040" y="5244084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Cervical Cancer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212079" y="5317236"/>
            <a:ext cx="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5177790" y="5282946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177790" y="5282946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285231" y="5244084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0040" y="5362956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Ovarian Cancer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4855464" y="5436108"/>
            <a:ext cx="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4821174" y="5401818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21174" y="5401818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285231" y="5362956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0040" y="5481828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Lymphoma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5212079" y="5554980"/>
            <a:ext cx="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5177790" y="5520690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177790" y="5520690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285231" y="548182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20040" y="5600700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Lung Cancer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5212079" y="5673852"/>
            <a:ext cx="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5177790" y="5639562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177790" y="5639562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285231" y="560070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0040" y="5719572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Kidney Cancer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855464" y="5792724"/>
            <a:ext cx="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4821174" y="5758434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821174" y="5758434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285231" y="5719572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0040" y="5838444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Prostate Cancer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4855464" y="5911596"/>
            <a:ext cx="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4821174" y="5877306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821174" y="5877306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285231" y="5838444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20040" y="5957316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Thyroid Cancer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212079" y="6030468"/>
            <a:ext cx="0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5177790" y="5996178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177790" y="5996178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285231" y="5957316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072B2"/>
                </a:solidFill>
                <a:latin typeface="Arial"/>
              </a:rPr>
              <a:t>+0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0040" y="6076188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Colorectal Cancer</a:t>
            </a:r>
          </a:p>
        </p:txBody>
      </p:sp>
      <p:cxnSp>
        <p:nvCxnSpPr>
          <p:cNvPr id="139" name="Connector 138"/>
          <p:cNvCxnSpPr/>
          <p:nvPr/>
        </p:nvCxnSpPr>
        <p:spPr>
          <a:xfrm flipH="1">
            <a:off x="4142231" y="6149340"/>
            <a:ext cx="356617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4464558" y="6115050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107941" y="6115050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285231" y="607618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55E00"/>
                </a:solidFill>
                <a:latin typeface="Arial"/>
              </a:rPr>
              <a:t>−10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20040" y="6195060"/>
            <a:ext cx="1280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Endometrial Cancer</a:t>
            </a:r>
          </a:p>
        </p:txBody>
      </p:sp>
      <p:cxnSp>
        <p:nvCxnSpPr>
          <p:cNvPr id="144" name="Connector 143"/>
          <p:cNvCxnSpPr/>
          <p:nvPr/>
        </p:nvCxnSpPr>
        <p:spPr>
          <a:xfrm flipH="1">
            <a:off x="4142231" y="6268212"/>
            <a:ext cx="713233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4821174" y="6233922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107941" y="6233922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285231" y="619506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55E00"/>
                </a:solidFill>
                <a:latin typeface="Arial"/>
              </a:rPr>
              <a:t>−20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230367" y="3886200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Δ (pp)</a:t>
            </a:r>
          </a:p>
        </p:txBody>
      </p:sp>
      <p:sp>
        <p:nvSpPr>
          <p:cNvPr id="149" name="Oval 148"/>
          <p:cNvSpPr/>
          <p:nvPr/>
        </p:nvSpPr>
        <p:spPr>
          <a:xfrm>
            <a:off x="1748789" y="3861054"/>
            <a:ext cx="68580" cy="6858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874519" y="3822191"/>
            <a:ext cx="10058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72B2"/>
                </a:solidFill>
                <a:latin typeface="Arial"/>
              </a:rPr>
              <a:t>OncoDigger</a:t>
            </a:r>
          </a:p>
        </p:txBody>
      </p:sp>
      <p:sp>
        <p:nvSpPr>
          <p:cNvPr id="151" name="Oval 150"/>
          <p:cNvSpPr/>
          <p:nvPr/>
        </p:nvSpPr>
        <p:spPr>
          <a:xfrm>
            <a:off x="2937510" y="3861054"/>
            <a:ext cx="68580" cy="6858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063239" y="3822191"/>
            <a:ext cx="10058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55E00"/>
                </a:solidFill>
                <a:latin typeface="Arial"/>
              </a:rPr>
              <a:t>CancerMine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20040" y="672084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(C)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Effect of auditing: CancerMine before and after; PubTator final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508760" y="7040879"/>
            <a:ext cx="0" cy="502921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280160" y="7589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0%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2308860" y="7040879"/>
            <a:ext cx="0" cy="502921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2080260" y="7589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25%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3108960" y="7040879"/>
            <a:ext cx="0" cy="502921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2880360" y="7589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50%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3909060" y="7040879"/>
            <a:ext cx="0" cy="502921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3680460" y="7589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75%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4709160" y="7040879"/>
            <a:ext cx="0" cy="502921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4480560" y="7589520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100%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1508760" y="7543800"/>
            <a:ext cx="320040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508760" y="7040879"/>
            <a:ext cx="0" cy="502921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1508760" y="7053704"/>
            <a:ext cx="2694736" cy="85496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249216" y="7035416"/>
            <a:ext cx="457200" cy="122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rial"/>
              </a:rPr>
              <a:t>84.2%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508760" y="7173399"/>
            <a:ext cx="2812983" cy="85496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367463" y="7155111"/>
            <a:ext cx="457200" cy="122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D55E00"/>
                </a:solidFill>
                <a:latin typeface="Arial"/>
              </a:rPr>
              <a:t>87.9%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20040" y="7022592"/>
            <a:ext cx="114300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D55E00"/>
                </a:solidFill>
                <a:latin typeface="Arial"/>
              </a:rPr>
              <a:t>CancerMine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508760" y="7424859"/>
            <a:ext cx="2172903" cy="85496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727383" y="7406571"/>
            <a:ext cx="457200" cy="122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CC79A7"/>
                </a:solidFill>
                <a:latin typeface="Arial"/>
              </a:rPr>
              <a:t>67.9%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20040" y="7274052"/>
            <a:ext cx="114300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CC79A7"/>
                </a:solidFill>
                <a:latin typeface="Arial"/>
              </a:rPr>
              <a:t>PubTator 3.0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508760" y="7744968"/>
            <a:ext cx="32004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Mean Precision@10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783080" y="7946136"/>
            <a:ext cx="100584" cy="100584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929384" y="7918704"/>
            <a:ext cx="10058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Unaudited pass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108960" y="7946136"/>
            <a:ext cx="82296" cy="10058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191256" y="7946136"/>
            <a:ext cx="82296" cy="100584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319272" y="7918704"/>
            <a:ext cx="13716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Audited (this study)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20040" y="8092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• PTGDR artifact (1,329 mis-tagged “-AS1” sentences) + DOID mapping errors incl. Brain Cancer subtypes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20040" y="8366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• Single-parent-MeSH mapping missed subtype-tagged relations; fixing it also resolved Liver/ALS contamination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