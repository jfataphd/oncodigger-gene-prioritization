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Literature support and recovery of IntOGen driver annotations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4008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(A)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Supporting papers by recovery band (762 of 1,740 IntOGen driver pairs surfaced)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34440" y="3474720"/>
            <a:ext cx="36576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3401568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34440" y="2682240"/>
            <a:ext cx="36576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60908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1889759"/>
            <a:ext cx="36576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181660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1097279"/>
            <a:ext cx="365760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102412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1129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51129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51129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511296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1097280"/>
            <a:ext cx="0" cy="237744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234440" y="3474720"/>
            <a:ext cx="365760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 rot="16200000">
            <a:off x="-548640" y="2203704"/>
            <a:ext cx="23774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Supporting papers (log scale)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2606040" y="2108265"/>
            <a:ext cx="0" cy="483677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06040" y="1185450"/>
            <a:ext cx="0" cy="576429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286000" y="1761879"/>
            <a:ext cx="640080" cy="346386"/>
          </a:xfrm>
          <a:prstGeom prst="rect">
            <a:avLst/>
          </a:prstGeom>
          <a:solidFill>
            <a:srgbClr val="0072B2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2286000" y="1947724"/>
            <a:ext cx="640080" cy="0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0280" y="3529584"/>
            <a:ext cx="731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Top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2646806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55555"/>
                </a:solidFill>
                <a:latin typeface="Arial"/>
              </a:rPr>
              <a:t>n=150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520440" y="2759039"/>
            <a:ext cx="0" cy="47712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20440" y="1872967"/>
            <a:ext cx="0" cy="507963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200400" y="2380930"/>
            <a:ext cx="640080" cy="378109"/>
          </a:xfrm>
          <a:prstGeom prst="rect">
            <a:avLst/>
          </a:prstGeom>
          <a:solidFill>
            <a:srgbClr val="E69F00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200400" y="2591942"/>
            <a:ext cx="640080" cy="0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154680" y="3529584"/>
            <a:ext cx="731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Ranks 11–50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3291023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55555"/>
                </a:solidFill>
                <a:latin typeface="Arial"/>
              </a:rPr>
              <a:t>n=308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34840" y="3236159"/>
            <a:ext cx="0" cy="0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434840" y="2410876"/>
            <a:ext cx="0" cy="586723"/>
          </a:xfrm>
          <a:prstGeom prst="line">
            <a:avLst/>
          </a:prstGeom>
          <a:ln w="1270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114800" y="2997599"/>
            <a:ext cx="640080" cy="238560"/>
          </a:xfrm>
          <a:prstGeom prst="rect">
            <a:avLst/>
          </a:prstGeom>
          <a:solidFill>
            <a:srgbClr val="D55E00"/>
          </a:solidFill>
          <a:ln w="952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114800" y="3096610"/>
            <a:ext cx="640080" cy="0"/>
          </a:xfrm>
          <a:prstGeom prst="line">
            <a:avLst/>
          </a:prstGeom>
          <a:ln w="222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69079" y="3529584"/>
            <a:ext cx="731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Arial"/>
              </a:rPr>
              <a:t>Ranked beyond 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79" y="3291023"/>
            <a:ext cx="7315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55555"/>
                </a:solidFill>
                <a:latin typeface="Arial"/>
              </a:rPr>
              <a:t>n=304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39" y="987552"/>
            <a:ext cx="1554480" cy="841248"/>
          </a:xfrm>
          <a:prstGeom prst="rect">
            <a:avLst/>
          </a:prstGeom>
          <a:solidFill>
            <a:srgbClr val="F3F3F3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59" y="1033272"/>
            <a:ext cx="146303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978/1740 (56.2%)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59" y="1234440"/>
            <a:ext cx="1463039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555555"/>
                </a:solidFill>
                <a:latin typeface="Arial"/>
              </a:rPr>
              <a:t>never surfaced in window</a:t>
            </a:r>
          </a:p>
          <a:p>
            <a:pPr algn="ctr"/>
            <a:r>
              <a:rPr sz="700" b="0" i="0">
                <a:solidFill>
                  <a:srgbClr val="555555"/>
                </a:solidFill>
                <a:latin typeface="Arial"/>
              </a:rPr>
              <a:t>(no value to plot)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59" y="1508760"/>
            <a:ext cx="1463039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50" b="0" i="0">
                <a:solidFill>
                  <a:srgbClr val="555555"/>
                </a:solidFill>
                <a:latin typeface="Arial"/>
              </a:rPr>
              <a:t>of which 790 present</a:t>
            </a:r>
          </a:p>
          <a:p>
            <a:pPr algn="ctr"/>
            <a:r>
              <a:rPr sz="650" b="0" i="0">
                <a:solidFill>
                  <a:srgbClr val="555555"/>
                </a:solidFill>
                <a:latin typeface="Arial"/>
              </a:rPr>
              <a:t>elsewhere, 188 no lexicon-</a:t>
            </a:r>
          </a:p>
          <a:p>
            <a:pPr algn="ctr"/>
            <a:r>
              <a:rPr sz="650" b="0" i="0">
                <a:solidFill>
                  <a:srgbClr val="555555"/>
                </a:solidFill>
                <a:latin typeface="Arial"/>
              </a:rPr>
              <a:t>detected mention (Suppl. Fig. S3)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3749039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Arial"/>
              </a:rPr>
              <a:t>(B) </a:t>
            </a:r>
            <a:r>
              <a:rPr sz="1100" b="1" i="0">
                <a:solidFill>
                  <a:srgbClr val="222222"/>
                </a:solidFill>
                <a:latin typeface="Arial"/>
              </a:rPr>
              <a:t>OncoDigger rank vs. supporting papers (762 surfaced IntOGen pairs)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34440" y="6812279"/>
            <a:ext cx="3520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31520" y="673912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234440" y="5928359"/>
            <a:ext cx="3520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31520" y="585520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34440" y="5044439"/>
            <a:ext cx="3520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1520" y="497128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100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234440" y="4160519"/>
            <a:ext cx="3520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31520" y="4087367"/>
            <a:ext cx="4572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" y="6848855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14135" y="6848855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68150" y="6848855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100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234440" y="4160520"/>
            <a:ext cx="0" cy="2651759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234440" y="6812279"/>
            <a:ext cx="352044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234440" y="7031736"/>
            <a:ext cx="352044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OncoDigger rank (log scale)</a:t>
            </a:r>
          </a:p>
        </p:txBody>
      </p:sp>
      <p:sp>
        <p:nvSpPr>
          <p:cNvPr id="56" name="TextBox 55"/>
          <p:cNvSpPr txBox="1"/>
          <p:nvPr/>
        </p:nvSpPr>
        <p:spPr>
          <a:xfrm rot="16200000">
            <a:off x="-685799" y="5404104"/>
            <a:ext cx="265176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Supporting papers (log scale)</a:t>
            </a:r>
          </a:p>
        </p:txBody>
      </p:sp>
      <p:sp>
        <p:nvSpPr>
          <p:cNvPr id="57" name="Oval 56"/>
          <p:cNvSpPr/>
          <p:nvPr/>
        </p:nvSpPr>
        <p:spPr>
          <a:xfrm>
            <a:off x="2565595" y="540325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535074" y="599116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621641" y="534556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71821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77626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11580" y="438501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619179" y="446613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70987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41976" y="56206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395314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503639" y="531967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672808" y="516962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0461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157996" y="480022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65905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355855" y="528766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78099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8956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03170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973194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568057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647914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93699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011935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67527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029240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450055" y="636768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302271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171054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380793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765917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61922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857609" y="475357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211624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434377" y="525107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149668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006887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026778" y="486849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157996" y="503327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750441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88944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72643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104412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026778" y="502157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973194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675270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350631" y="636768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285226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3462979" y="625724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211580" y="423600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355855" y="516962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3535074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382404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3599288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80291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99666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672808" y="558576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171054" y="636768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360934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619179" y="468871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387057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267671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503639" y="517531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3080407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3302271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3647914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621641" y="55386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3475626" y="625724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265208" y="511206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877626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709871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3149668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436840" y="625724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911238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401193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391370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029240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565595" y="551024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857609" y="498151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68411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211624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2434377" y="4878943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409484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104412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1619179" y="461684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334949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2877626" y="542458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953875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1857609" y="477316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149668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964867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78839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546276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3127475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171054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080407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66629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211580" y="445632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70140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302271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230906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2026778" y="492982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2265208" y="492681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2841976" y="555375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57865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055380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93699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403170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2943032" y="563941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98097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80291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064774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3365905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2503639" y="504943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535074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001885" y="549677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2265208" y="473312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390169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2026778" y="500285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675270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973194" y="560282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11580" y="469195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672808" y="539301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4087307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3191689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3302271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2841976" y="539301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267671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802913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488006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81004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3350631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380793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3149668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230906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3080407" y="540325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3628944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2434377" y="507504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2621641" y="538304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500131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427497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404134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2157996" y="509310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3029240" y="541377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857609" y="495804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13403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3692825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393699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3500131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3080407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3523656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13403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2434377" y="514768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211580" y="438137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2877626" y="555375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2621641" y="521133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2026778" y="482934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2911238" y="565910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3350631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0461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2763454" y="552420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06016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3230906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04134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385108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2355855" y="516402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2265208" y="510247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3953875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3191689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857609" y="488696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3657175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54627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2719876" y="542458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3285226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2973194" y="558576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2565595" y="530333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3824042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9179" y="460890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390169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2804025" y="539301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3171054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3380793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3395314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2841976" y="538304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3450055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36385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029240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3726436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15804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2503639" y="531141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2672808" y="531141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378839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2355855" y="534556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11747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3001885" y="563941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2621641" y="549677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3318837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3149668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4016940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864152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407389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3249576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911238" y="545898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3211624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94267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127475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2565595" y="525812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3365905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2672808" y="549677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3734547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431532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2973194" y="563941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211580" y="462495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418486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2434377" y="538304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2503639" y="538304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3395314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2763454" y="55386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2265208" y="535459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3080407" y="551024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3980978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3773505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425868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403654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2026778" y="502157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36385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3104412" y="556942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3948301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2157996" y="522412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403170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3628944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417732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3557267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3171054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619179" y="4736763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361474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841976" y="558576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3450055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3462979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3684113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3230906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1857609" y="512693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877626" y="549677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3302271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431832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3557267" y="586891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672808" y="539301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3788393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3211624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3080407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3986252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4150147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565595" y="547117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3734547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393699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3837718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943032" y="552420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804025" y="530333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763454" y="515850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3709871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3589061" y="5905499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3742548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026778" y="508396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001885" y="539301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973194" y="545898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3318837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355855" y="5121913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3599288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3609340" y="5945945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3127475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416194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434377" y="522412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621641" y="531967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503639" y="528006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1211580" y="467137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367527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3127475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621641" y="540325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3080407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1619179" y="492681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157996" y="499560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943032" y="563941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4181104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382404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3638505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55855" y="524416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3488006" y="625724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378839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546276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211580" y="452141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503639" y="521767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3365905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719876" y="530333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3149668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40461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841976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375823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4203297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265208" y="504127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3475626" y="625724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3817083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857609" y="4878943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3171054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3127475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503639" y="543571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3773505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719876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403170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3423321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3475626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621641" y="565910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911238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026778" y="512693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3001885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431832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877626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385108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857609" y="488427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804025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943032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3817083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973194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3334949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672808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3149668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3619224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3512011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3302271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390773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414616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3380793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1211580" y="497128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3578653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3267671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3628944" y="586891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3844439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388944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3285226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424531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157996" y="532811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3666292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434377" y="528006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841976" y="560282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3249576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413403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3638505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381004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3171054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02190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3795698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3462979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423509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1619179" y="485832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3599288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3230906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355855" y="514768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565595" y="526529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3500131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63454" y="552420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3546276" y="599116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3568057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3692825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265208" y="532811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4134036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211580" y="476917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3975657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3475626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157996" y="519290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877626" y="522412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3318837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3684113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3450055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557267" y="599116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750441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3249576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3285226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1857609" y="509776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2943032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701409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2026778" y="505778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425203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2911238" y="548376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423509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436840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2804025" y="552420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334949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171054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765917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430929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1619179" y="485832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419599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913700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2565595" y="548376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2763454" y="565910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423321" y="652333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302271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557267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512011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436840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416582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2157996" y="519290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4315329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647914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85765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2877626" y="556942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434743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7475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2621641" y="526529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409484" y="625724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11624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412993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001885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718212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675270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055380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2026778" y="527261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901699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2503639" y="547117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2355855" y="540325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851084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87693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1619179" y="508851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488006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2841976" y="560282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406935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3285226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2911238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3267671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3758230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211580" y="471890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391370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3230906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2804025" y="547117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387057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2355855" y="526529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1211580" y="434544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619179" y="443325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3395314" y="652333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36385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2434377" y="538304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3267671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3127475" y="565910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383771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2026778" y="510724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3666292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3171054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2672808" y="544717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2265208" y="513716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3230906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3029240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2503639" y="524416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3734547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364791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285226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857609" y="494840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3001885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3810041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2565595" y="505778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41381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2973194" y="565910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3913700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2763454" y="537332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3318837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3578653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37735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666292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2355855" y="494211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3619224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2943032" y="534556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3684113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3211624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384443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2841976" y="547117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2877626" y="542458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383771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3546276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3350631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3876936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2157996" y="490354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398097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410900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3080407" y="552420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3523656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Oval 539"/>
          <p:cNvSpPr/>
          <p:nvPr/>
        </p:nvSpPr>
        <p:spPr>
          <a:xfrm>
            <a:off x="402190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3104412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1619179" y="477720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2911238" y="548376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Oval 543"/>
          <p:cNvSpPr/>
          <p:nvPr/>
        </p:nvSpPr>
        <p:spPr>
          <a:xfrm>
            <a:off x="2804025" y="541377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1211580" y="467137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3657175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416194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285226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2026778" y="480456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395387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40461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2621641" y="558576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353507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62894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2877626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Oval 555"/>
          <p:cNvSpPr/>
          <p:nvPr/>
        </p:nvSpPr>
        <p:spPr>
          <a:xfrm>
            <a:off x="430013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2943032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Oval 557"/>
          <p:cNvSpPr/>
          <p:nvPr/>
        </p:nvSpPr>
        <p:spPr>
          <a:xfrm>
            <a:off x="2157996" y="536384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Oval 558"/>
          <p:cNvSpPr/>
          <p:nvPr/>
        </p:nvSpPr>
        <p:spPr>
          <a:xfrm>
            <a:off x="3285226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435590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3171054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2434377" y="560282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Oval 562"/>
          <p:cNvSpPr/>
          <p:nvPr/>
        </p:nvSpPr>
        <p:spPr>
          <a:xfrm>
            <a:off x="3475626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267671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Oval 564"/>
          <p:cNvSpPr/>
          <p:nvPr/>
        </p:nvSpPr>
        <p:spPr>
          <a:xfrm>
            <a:off x="3029240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Oval 565"/>
          <p:cNvSpPr/>
          <p:nvPr/>
        </p:nvSpPr>
        <p:spPr>
          <a:xfrm>
            <a:off x="2719876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Oval 566"/>
          <p:cNvSpPr/>
          <p:nvPr/>
        </p:nvSpPr>
        <p:spPr>
          <a:xfrm>
            <a:off x="1619179" y="521133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Oval 567"/>
          <p:cNvSpPr/>
          <p:nvPr/>
        </p:nvSpPr>
        <p:spPr>
          <a:xfrm>
            <a:off x="4142147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3684113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3055380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375823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1211580" y="487630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2026778" y="533673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2565595" y="574984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3249576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438592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Oval 576"/>
          <p:cNvSpPr/>
          <p:nvPr/>
        </p:nvSpPr>
        <p:spPr>
          <a:xfrm>
            <a:off x="2265208" y="538304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Oval 577"/>
          <p:cNvSpPr/>
          <p:nvPr/>
        </p:nvSpPr>
        <p:spPr>
          <a:xfrm>
            <a:off x="1857609" y="506631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267671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Oval 579"/>
          <p:cNvSpPr/>
          <p:nvPr/>
        </p:nvSpPr>
        <p:spPr>
          <a:xfrm>
            <a:off x="408286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Oval 580"/>
          <p:cNvSpPr/>
          <p:nvPr/>
        </p:nvSpPr>
        <p:spPr>
          <a:xfrm>
            <a:off x="1211580" y="435682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948301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Oval 582"/>
          <p:cNvSpPr/>
          <p:nvPr/>
        </p:nvSpPr>
        <p:spPr>
          <a:xfrm>
            <a:off x="3409484" y="636768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434377" y="555375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3765917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157996" y="508396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375044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2265208" y="507504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3970286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2026778" y="4895166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503639" y="525812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763454" y="537332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1857609" y="455978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3211624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355855" y="526529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565595" y="540325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3488006" y="625724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402190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99666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2434377" y="529542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419599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2265208" y="497466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802913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055380" y="552420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49576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4100424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2973194" y="556942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98625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1857609" y="478542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3104412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3895605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3750441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3302271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1211580" y="464457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2157996" y="506631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Oval 615"/>
          <p:cNvSpPr/>
          <p:nvPr/>
        </p:nvSpPr>
        <p:spPr>
          <a:xfrm>
            <a:off x="410900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4055514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4078397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2355855" y="534556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3267671" y="56206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3810041" y="5945945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3647914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3001885" y="55386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4016940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943032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877626" y="55386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672808" y="53281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3365905" y="604242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3423321" y="625724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388944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3334949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565595" y="525107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395314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171054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907730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675270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85765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450055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3557267" y="599116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3380793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06016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3350631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1619179" y="487630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411747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4082869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2265208" y="507947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406016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Oval 647"/>
          <p:cNvSpPr/>
          <p:nvPr/>
        </p:nvSpPr>
        <p:spPr>
          <a:xfrm>
            <a:off x="3334949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3171054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3267671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Oval 650"/>
          <p:cNvSpPr/>
          <p:nvPr/>
        </p:nvSpPr>
        <p:spPr>
          <a:xfrm>
            <a:off x="2503639" y="488968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3423321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3104412" y="56206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Oval 653"/>
          <p:cNvSpPr/>
          <p:nvPr/>
        </p:nvSpPr>
        <p:spPr>
          <a:xfrm>
            <a:off x="3149668" y="560282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2026778" y="501023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3780996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Oval 656"/>
          <p:cNvSpPr/>
          <p:nvPr/>
        </p:nvSpPr>
        <p:spPr>
          <a:xfrm>
            <a:off x="3127475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421051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4064774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Oval 659"/>
          <p:cNvSpPr/>
          <p:nvPr/>
        </p:nvSpPr>
        <p:spPr>
          <a:xfrm>
            <a:off x="1857609" y="493286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3409484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3080407" y="552420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Oval 662"/>
          <p:cNvSpPr/>
          <p:nvPr/>
        </p:nvSpPr>
        <p:spPr>
          <a:xfrm>
            <a:off x="3546276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390773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3191689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Oval 665"/>
          <p:cNvSpPr/>
          <p:nvPr/>
        </p:nvSpPr>
        <p:spPr>
          <a:xfrm>
            <a:off x="1211580" y="461021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3230906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2434377" y="508851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Oval 668"/>
          <p:cNvSpPr/>
          <p:nvPr/>
        </p:nvSpPr>
        <p:spPr>
          <a:xfrm>
            <a:off x="2672808" y="515850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3450055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380291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Oval 671"/>
          <p:cNvSpPr/>
          <p:nvPr/>
        </p:nvSpPr>
        <p:spPr>
          <a:xfrm>
            <a:off x="3647914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3395314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3029240" y="528006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Oval 674"/>
          <p:cNvSpPr/>
          <p:nvPr/>
        </p:nvSpPr>
        <p:spPr>
          <a:xfrm>
            <a:off x="3365905" y="583551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412165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4173516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Oval 677"/>
          <p:cNvSpPr/>
          <p:nvPr/>
        </p:nvSpPr>
        <p:spPr>
          <a:xfrm>
            <a:off x="2841976" y="512191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3500131" y="61015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2719876" y="525107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Oval 680"/>
          <p:cNvSpPr/>
          <p:nvPr/>
        </p:nvSpPr>
        <p:spPr>
          <a:xfrm>
            <a:off x="3773505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4031703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4252038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Oval 683"/>
          <p:cNvSpPr/>
          <p:nvPr/>
        </p:nvSpPr>
        <p:spPr>
          <a:xfrm>
            <a:off x="3436840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3350631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3488006" y="590549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Oval 686"/>
          <p:cNvSpPr/>
          <p:nvPr/>
        </p:nvSpPr>
        <p:spPr>
          <a:xfrm>
            <a:off x="2973194" y="523736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3684113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2157996" y="5006523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Oval 689"/>
          <p:cNvSpPr/>
          <p:nvPr/>
        </p:nvSpPr>
        <p:spPr>
          <a:xfrm>
            <a:off x="3718212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3211624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404134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2911238" y="539301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382404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Oval 694"/>
          <p:cNvSpPr/>
          <p:nvPr/>
        </p:nvSpPr>
        <p:spPr>
          <a:xfrm>
            <a:off x="2621641" y="500285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3851084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2943032" y="535459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Oval 697"/>
          <p:cNvSpPr/>
          <p:nvPr/>
        </p:nvSpPr>
        <p:spPr>
          <a:xfrm>
            <a:off x="3795698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3628944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422817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2763454" y="531141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3302271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Oval 702"/>
          <p:cNvSpPr/>
          <p:nvPr/>
        </p:nvSpPr>
        <p:spPr>
          <a:xfrm>
            <a:off x="393699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2565595" y="5075040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2355855" y="495804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Oval 705"/>
          <p:cNvSpPr/>
          <p:nvPr/>
        </p:nvSpPr>
        <p:spPr>
          <a:xfrm>
            <a:off x="2877626" y="551024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3001885" y="528766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Oval 707"/>
          <p:cNvSpPr/>
          <p:nvPr/>
        </p:nvSpPr>
        <p:spPr>
          <a:xfrm>
            <a:off x="3742548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Oval 708"/>
          <p:cNvSpPr/>
          <p:nvPr/>
        </p:nvSpPr>
        <p:spPr>
          <a:xfrm>
            <a:off x="3285226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Oval 709"/>
          <p:cNvSpPr/>
          <p:nvPr/>
        </p:nvSpPr>
        <p:spPr>
          <a:xfrm>
            <a:off x="4446547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Oval 710"/>
          <p:cNvSpPr/>
          <p:nvPr/>
        </p:nvSpPr>
        <p:spPr>
          <a:xfrm>
            <a:off x="3211624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4214087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3334949" y="577633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Oval 713"/>
          <p:cNvSpPr/>
          <p:nvPr/>
        </p:nvSpPr>
        <p:spPr>
          <a:xfrm>
            <a:off x="3267671" y="565910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Oval 714"/>
          <p:cNvSpPr/>
          <p:nvPr/>
        </p:nvSpPr>
        <p:spPr>
          <a:xfrm>
            <a:off x="3919610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Oval 715"/>
          <p:cNvSpPr/>
          <p:nvPr/>
        </p:nvSpPr>
        <p:spPr>
          <a:xfrm>
            <a:off x="2719876" y="504533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Oval 716"/>
          <p:cNvSpPr/>
          <p:nvPr/>
        </p:nvSpPr>
        <p:spPr>
          <a:xfrm>
            <a:off x="2911238" y="524416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Oval 717"/>
          <p:cNvSpPr/>
          <p:nvPr/>
        </p:nvSpPr>
        <p:spPr>
          <a:xfrm>
            <a:off x="4192305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Oval 718"/>
          <p:cNvSpPr/>
          <p:nvPr/>
        </p:nvSpPr>
        <p:spPr>
          <a:xfrm>
            <a:off x="3578653" y="562068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Oval 719"/>
          <p:cNvSpPr/>
          <p:nvPr/>
        </p:nvSpPr>
        <p:spPr>
          <a:xfrm>
            <a:off x="41381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3055380" y="555375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Oval 721"/>
          <p:cNvSpPr/>
          <p:nvPr/>
        </p:nvSpPr>
        <p:spPr>
          <a:xfrm>
            <a:off x="3851084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Oval 722"/>
          <p:cNvSpPr/>
          <p:nvPr/>
        </p:nvSpPr>
        <p:spPr>
          <a:xfrm>
            <a:off x="3409484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Oval 723"/>
          <p:cNvSpPr/>
          <p:nvPr/>
        </p:nvSpPr>
        <p:spPr>
          <a:xfrm>
            <a:off x="3557267" y="5602825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Oval 724"/>
          <p:cNvSpPr/>
          <p:nvPr/>
        </p:nvSpPr>
        <p:spPr>
          <a:xfrm>
            <a:off x="2503639" y="535459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Oval 725"/>
          <p:cNvSpPr/>
          <p:nvPr/>
        </p:nvSpPr>
        <p:spPr>
          <a:xfrm>
            <a:off x="3380793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3657175" y="5679859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Oval 727"/>
          <p:cNvSpPr/>
          <p:nvPr/>
        </p:nvSpPr>
        <p:spPr>
          <a:xfrm>
            <a:off x="3462979" y="586891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Oval 728"/>
          <p:cNvSpPr/>
          <p:nvPr/>
        </p:nvSpPr>
        <p:spPr>
          <a:xfrm>
            <a:off x="2157996" y="516402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Oval 729"/>
          <p:cNvSpPr/>
          <p:nvPr/>
        </p:nvSpPr>
        <p:spPr>
          <a:xfrm>
            <a:off x="4293944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Oval 730"/>
          <p:cNvSpPr/>
          <p:nvPr/>
        </p:nvSpPr>
        <p:spPr>
          <a:xfrm>
            <a:off x="3104412" y="544717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Oval 731"/>
          <p:cNvSpPr/>
          <p:nvPr/>
        </p:nvSpPr>
        <p:spPr>
          <a:xfrm>
            <a:off x="4016940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2265208" y="530333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Oval 733"/>
          <p:cNvSpPr/>
          <p:nvPr/>
        </p:nvSpPr>
        <p:spPr>
          <a:xfrm>
            <a:off x="3350631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Oval 734"/>
          <p:cNvSpPr/>
          <p:nvPr/>
        </p:nvSpPr>
        <p:spPr>
          <a:xfrm>
            <a:off x="3568057" y="586891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Oval 735"/>
          <p:cNvSpPr/>
          <p:nvPr/>
        </p:nvSpPr>
        <p:spPr>
          <a:xfrm>
            <a:off x="4287688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Oval 736"/>
          <p:cNvSpPr/>
          <p:nvPr/>
        </p:nvSpPr>
        <p:spPr>
          <a:xfrm>
            <a:off x="3191689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Oval 737"/>
          <p:cNvSpPr/>
          <p:nvPr/>
        </p:nvSpPr>
        <p:spPr>
          <a:xfrm>
            <a:off x="4082869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2026778" y="521133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Oval 739"/>
          <p:cNvSpPr/>
          <p:nvPr/>
        </p:nvSpPr>
        <p:spPr>
          <a:xfrm>
            <a:off x="3302271" y="555375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Oval 740"/>
          <p:cNvSpPr/>
          <p:nvPr/>
        </p:nvSpPr>
        <p:spPr>
          <a:xfrm>
            <a:off x="3609340" y="5945945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Oval 741"/>
          <p:cNvSpPr/>
          <p:nvPr/>
        </p:nvSpPr>
        <p:spPr>
          <a:xfrm>
            <a:off x="440167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Oval 742"/>
          <p:cNvSpPr/>
          <p:nvPr/>
        </p:nvSpPr>
        <p:spPr>
          <a:xfrm>
            <a:off x="4235091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Oval 743"/>
          <p:cNvSpPr/>
          <p:nvPr/>
        </p:nvSpPr>
        <p:spPr>
          <a:xfrm>
            <a:off x="3647914" y="5905499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Oval 744"/>
          <p:cNvSpPr/>
          <p:nvPr/>
        </p:nvSpPr>
        <p:spPr>
          <a:xfrm>
            <a:off x="3546276" y="5945945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Oval 745"/>
          <p:cNvSpPr/>
          <p:nvPr/>
        </p:nvSpPr>
        <p:spPr>
          <a:xfrm>
            <a:off x="4306259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Oval 746"/>
          <p:cNvSpPr/>
          <p:nvPr/>
        </p:nvSpPr>
        <p:spPr>
          <a:xfrm>
            <a:off x="3423321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Oval 747"/>
          <p:cNvSpPr/>
          <p:nvPr/>
        </p:nvSpPr>
        <p:spPr>
          <a:xfrm>
            <a:off x="3970286" y="5945945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Oval 748"/>
          <p:cNvSpPr/>
          <p:nvPr/>
        </p:nvSpPr>
        <p:spPr>
          <a:xfrm>
            <a:off x="3936992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Oval 749"/>
          <p:cNvSpPr/>
          <p:nvPr/>
        </p:nvSpPr>
        <p:spPr>
          <a:xfrm>
            <a:off x="4483748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Oval 750"/>
          <p:cNvSpPr/>
          <p:nvPr/>
        </p:nvSpPr>
        <p:spPr>
          <a:xfrm>
            <a:off x="3975657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Oval 751"/>
          <p:cNvSpPr/>
          <p:nvPr/>
        </p:nvSpPr>
        <p:spPr>
          <a:xfrm>
            <a:off x="1857609" y="518108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Oval 752"/>
          <p:cNvSpPr/>
          <p:nvPr/>
        </p:nvSpPr>
        <p:spPr>
          <a:xfrm>
            <a:off x="3249576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Oval 753"/>
          <p:cNvSpPr/>
          <p:nvPr/>
        </p:nvSpPr>
        <p:spPr>
          <a:xfrm>
            <a:off x="435027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Oval 754"/>
          <p:cNvSpPr/>
          <p:nvPr/>
        </p:nvSpPr>
        <p:spPr>
          <a:xfrm>
            <a:off x="3913700" y="583551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3991479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Oval 756"/>
          <p:cNvSpPr/>
          <p:nvPr/>
        </p:nvSpPr>
        <p:spPr>
          <a:xfrm>
            <a:off x="3127475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Oval 757"/>
          <p:cNvSpPr/>
          <p:nvPr/>
        </p:nvSpPr>
        <p:spPr>
          <a:xfrm>
            <a:off x="2621641" y="503725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Oval 758"/>
          <p:cNvSpPr/>
          <p:nvPr/>
        </p:nvSpPr>
        <p:spPr>
          <a:xfrm>
            <a:off x="1211580" y="482702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Oval 759"/>
          <p:cNvSpPr/>
          <p:nvPr/>
        </p:nvSpPr>
        <p:spPr>
          <a:xfrm>
            <a:off x="3684113" y="5945945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Oval 760"/>
          <p:cNvSpPr/>
          <p:nvPr/>
        </p:nvSpPr>
        <p:spPr>
          <a:xfrm>
            <a:off x="3780996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Oval 761"/>
          <p:cNvSpPr/>
          <p:nvPr/>
        </p:nvSpPr>
        <p:spPr>
          <a:xfrm>
            <a:off x="2804025" y="540325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Oval 762"/>
          <p:cNvSpPr/>
          <p:nvPr/>
        </p:nvSpPr>
        <p:spPr>
          <a:xfrm>
            <a:off x="2973194" y="551024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Oval 763"/>
          <p:cNvSpPr/>
          <p:nvPr/>
        </p:nvSpPr>
        <p:spPr>
          <a:xfrm>
            <a:off x="3837718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Oval 764"/>
          <p:cNvSpPr/>
          <p:nvPr/>
        </p:nvSpPr>
        <p:spPr>
          <a:xfrm>
            <a:off x="440426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Oval 765"/>
          <p:cNvSpPr/>
          <p:nvPr/>
        </p:nvSpPr>
        <p:spPr>
          <a:xfrm>
            <a:off x="3953875" y="586891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Oval 766"/>
          <p:cNvSpPr/>
          <p:nvPr/>
        </p:nvSpPr>
        <p:spPr>
          <a:xfrm>
            <a:off x="2763454" y="553869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Oval 767"/>
          <p:cNvSpPr/>
          <p:nvPr/>
        </p:nvSpPr>
        <p:spPr>
          <a:xfrm>
            <a:off x="4422042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Oval 768"/>
          <p:cNvSpPr/>
          <p:nvPr/>
        </p:nvSpPr>
        <p:spPr>
          <a:xfrm>
            <a:off x="3589061" y="5776334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Oval 769"/>
          <p:cNvSpPr/>
          <p:nvPr/>
        </p:nvSpPr>
        <p:spPr>
          <a:xfrm>
            <a:off x="452716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Oval 770"/>
          <p:cNvSpPr/>
          <p:nvPr/>
        </p:nvSpPr>
        <p:spPr>
          <a:xfrm>
            <a:off x="4203297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Oval 771"/>
          <p:cNvSpPr/>
          <p:nvPr/>
        </p:nvSpPr>
        <p:spPr>
          <a:xfrm>
            <a:off x="2565595" y="534556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Oval 772"/>
          <p:cNvSpPr/>
          <p:nvPr/>
        </p:nvSpPr>
        <p:spPr>
          <a:xfrm>
            <a:off x="441194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val 773"/>
          <p:cNvSpPr/>
          <p:nvPr/>
        </p:nvSpPr>
        <p:spPr>
          <a:xfrm>
            <a:off x="3692825" y="617158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Oval 774"/>
          <p:cNvSpPr/>
          <p:nvPr/>
        </p:nvSpPr>
        <p:spPr>
          <a:xfrm>
            <a:off x="3876936" y="6101596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Oval 775"/>
          <p:cNvSpPr/>
          <p:nvPr/>
        </p:nvSpPr>
        <p:spPr>
          <a:xfrm>
            <a:off x="2943032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val 776"/>
          <p:cNvSpPr/>
          <p:nvPr/>
        </p:nvSpPr>
        <p:spPr>
          <a:xfrm>
            <a:off x="3718212" y="5905499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Oval 777"/>
          <p:cNvSpPr/>
          <p:nvPr/>
        </p:nvSpPr>
        <p:spPr>
          <a:xfrm>
            <a:off x="3001885" y="540325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Oval 778"/>
          <p:cNvSpPr/>
          <p:nvPr/>
        </p:nvSpPr>
        <p:spPr>
          <a:xfrm>
            <a:off x="3395314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val 779"/>
          <p:cNvSpPr/>
          <p:nvPr/>
        </p:nvSpPr>
        <p:spPr>
          <a:xfrm>
            <a:off x="3149668" y="567985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Oval 780"/>
          <p:cNvSpPr/>
          <p:nvPr/>
        </p:nvSpPr>
        <p:spPr>
          <a:xfrm>
            <a:off x="4117470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Oval 781"/>
          <p:cNvSpPr/>
          <p:nvPr/>
        </p:nvSpPr>
        <p:spPr>
          <a:xfrm>
            <a:off x="2355855" y="5251078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Oval 782"/>
          <p:cNvSpPr/>
          <p:nvPr/>
        </p:nvSpPr>
        <p:spPr>
          <a:xfrm>
            <a:off x="2672808" y="5373327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Oval 783"/>
          <p:cNvSpPr/>
          <p:nvPr/>
        </p:nvSpPr>
        <p:spPr>
          <a:xfrm>
            <a:off x="3029240" y="563941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Oval 784"/>
          <p:cNvSpPr/>
          <p:nvPr/>
        </p:nvSpPr>
        <p:spPr>
          <a:xfrm>
            <a:off x="1619179" y="4834023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Oval 785"/>
          <p:cNvSpPr/>
          <p:nvPr/>
        </p:nvSpPr>
        <p:spPr>
          <a:xfrm>
            <a:off x="401193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Oval 786"/>
          <p:cNvSpPr/>
          <p:nvPr/>
        </p:nvSpPr>
        <p:spPr>
          <a:xfrm>
            <a:off x="3701409" y="5945945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Oval 787"/>
          <p:cNvSpPr/>
          <p:nvPr/>
        </p:nvSpPr>
        <p:spPr>
          <a:xfrm>
            <a:off x="2672808" y="5804783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Oval 788"/>
          <p:cNvSpPr/>
          <p:nvPr/>
        </p:nvSpPr>
        <p:spPr>
          <a:xfrm>
            <a:off x="3684113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Oval 789"/>
          <p:cNvSpPr/>
          <p:nvPr/>
        </p:nvSpPr>
        <p:spPr>
          <a:xfrm>
            <a:off x="1857609" y="5186949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Oval 790"/>
          <p:cNvSpPr/>
          <p:nvPr/>
        </p:nvSpPr>
        <p:spPr>
          <a:xfrm>
            <a:off x="2763454" y="5524208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Oval 791"/>
          <p:cNvSpPr/>
          <p:nvPr/>
        </p:nvSpPr>
        <p:spPr>
          <a:xfrm>
            <a:off x="4330142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Oval 792"/>
          <p:cNvSpPr/>
          <p:nvPr/>
        </p:nvSpPr>
        <p:spPr>
          <a:xfrm>
            <a:off x="3758230" y="6042420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Oval 793"/>
          <p:cNvSpPr/>
          <p:nvPr/>
        </p:nvSpPr>
        <p:spPr>
          <a:xfrm>
            <a:off x="2804025" y="5945945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Oval 794"/>
          <p:cNvSpPr/>
          <p:nvPr/>
        </p:nvSpPr>
        <p:spPr>
          <a:xfrm>
            <a:off x="2157996" y="5447175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Oval 795"/>
          <p:cNvSpPr/>
          <p:nvPr/>
        </p:nvSpPr>
        <p:spPr>
          <a:xfrm>
            <a:off x="2719876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Oval 796"/>
          <p:cNvSpPr/>
          <p:nvPr/>
        </p:nvSpPr>
        <p:spPr>
          <a:xfrm>
            <a:off x="4169685" y="6257247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8" name="Oval 797"/>
          <p:cNvSpPr/>
          <p:nvPr/>
        </p:nvSpPr>
        <p:spPr>
          <a:xfrm>
            <a:off x="2355855" y="5393017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9" name="Oval 798"/>
          <p:cNvSpPr/>
          <p:nvPr/>
        </p:nvSpPr>
        <p:spPr>
          <a:xfrm>
            <a:off x="3788393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0" name="Oval 799"/>
          <p:cNvSpPr/>
          <p:nvPr/>
        </p:nvSpPr>
        <p:spPr>
          <a:xfrm>
            <a:off x="417351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Oval 800"/>
          <p:cNvSpPr/>
          <p:nvPr/>
        </p:nvSpPr>
        <p:spPr>
          <a:xfrm>
            <a:off x="2503639" y="5553752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Oval 801"/>
          <p:cNvSpPr/>
          <p:nvPr/>
        </p:nvSpPr>
        <p:spPr>
          <a:xfrm>
            <a:off x="2026778" y="519290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Oval 802"/>
          <p:cNvSpPr/>
          <p:nvPr/>
        </p:nvSpPr>
        <p:spPr>
          <a:xfrm>
            <a:off x="372643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4" name="Oval 803"/>
          <p:cNvSpPr/>
          <p:nvPr/>
        </p:nvSpPr>
        <p:spPr>
          <a:xfrm>
            <a:off x="3104412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5" name="Oval 804"/>
          <p:cNvSpPr/>
          <p:nvPr/>
        </p:nvSpPr>
        <p:spPr>
          <a:xfrm>
            <a:off x="4268511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6" name="Oval 805"/>
          <p:cNvSpPr/>
          <p:nvPr/>
        </p:nvSpPr>
        <p:spPr>
          <a:xfrm>
            <a:off x="1211580" y="5088511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7" name="Oval 806"/>
          <p:cNvSpPr/>
          <p:nvPr/>
        </p:nvSpPr>
        <p:spPr>
          <a:xfrm>
            <a:off x="2943032" y="5701801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8" name="Oval 807"/>
          <p:cNvSpPr/>
          <p:nvPr/>
        </p:nvSpPr>
        <p:spPr>
          <a:xfrm>
            <a:off x="3230906" y="5991160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9" name="Oval 808"/>
          <p:cNvSpPr/>
          <p:nvPr/>
        </p:nvSpPr>
        <p:spPr>
          <a:xfrm>
            <a:off x="3780996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0" name="Oval 809"/>
          <p:cNvSpPr/>
          <p:nvPr/>
        </p:nvSpPr>
        <p:spPr>
          <a:xfrm>
            <a:off x="419230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1" name="Oval 810"/>
          <p:cNvSpPr/>
          <p:nvPr/>
        </p:nvSpPr>
        <p:spPr>
          <a:xfrm>
            <a:off x="2621641" y="5725074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2" name="Oval 811"/>
          <p:cNvSpPr/>
          <p:nvPr/>
        </p:nvSpPr>
        <p:spPr>
          <a:xfrm>
            <a:off x="4335965" y="6523333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3" name="Oval 812"/>
          <p:cNvSpPr/>
          <p:nvPr/>
        </p:nvSpPr>
        <p:spPr>
          <a:xfrm>
            <a:off x="3423321" y="6171586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4" name="Oval 813"/>
          <p:cNvSpPr/>
          <p:nvPr/>
        </p:nvSpPr>
        <p:spPr>
          <a:xfrm>
            <a:off x="3568057" y="6367682"/>
            <a:ext cx="45720" cy="45720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5" name="Oval 814"/>
          <p:cNvSpPr/>
          <p:nvPr/>
        </p:nvSpPr>
        <p:spPr>
          <a:xfrm>
            <a:off x="3380793" y="6367682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6" name="Oval 815"/>
          <p:cNvSpPr/>
          <p:nvPr/>
        </p:nvSpPr>
        <p:spPr>
          <a:xfrm>
            <a:off x="2841976" y="5749849"/>
            <a:ext cx="45720" cy="45720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7" name="Oval 816"/>
          <p:cNvSpPr/>
          <p:nvPr/>
        </p:nvSpPr>
        <p:spPr>
          <a:xfrm>
            <a:off x="1619179" y="4945244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8" name="Oval 817"/>
          <p:cNvSpPr/>
          <p:nvPr/>
        </p:nvSpPr>
        <p:spPr>
          <a:xfrm>
            <a:off x="2565595" y="5804783"/>
            <a:ext cx="45720" cy="45720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9" name="Rectangle 818"/>
          <p:cNvSpPr/>
          <p:nvPr/>
        </p:nvSpPr>
        <p:spPr>
          <a:xfrm>
            <a:off x="2788920" y="4206240"/>
            <a:ext cx="1920240" cy="566928"/>
          </a:xfrm>
          <a:prstGeom prst="rect">
            <a:avLst/>
          </a:prstGeom>
          <a:solidFill>
            <a:srgbClr val="F3F8FC"/>
          </a:solidFill>
          <a:ln w="9525">
            <a:solidFill>
              <a:srgbClr val="56B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0" name="TextBox 819"/>
          <p:cNvSpPr txBox="1"/>
          <p:nvPr/>
        </p:nvSpPr>
        <p:spPr>
          <a:xfrm>
            <a:off x="2843784" y="4251959"/>
            <a:ext cx="182880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50" b="1" i="0">
                <a:solidFill>
                  <a:srgbClr val="222222"/>
                </a:solidFill>
                <a:latin typeface="Arial"/>
              </a:rPr>
              <a:t>Spearman ρ = −0.937 (n=762)</a:t>
            </a:r>
          </a:p>
        </p:txBody>
      </p:sp>
      <p:sp>
        <p:nvSpPr>
          <p:cNvPr id="821" name="TextBox 820"/>
          <p:cNvSpPr txBox="1"/>
          <p:nvPr/>
        </p:nvSpPr>
        <p:spPr>
          <a:xfrm>
            <a:off x="2843784" y="4425696"/>
            <a:ext cx="182880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Same ordering (top10 &gt; 11–50 &gt; beyond 50)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2843784" y="4581144"/>
            <a:ext cx="1828800" cy="1371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held in all 19/19 study cancers</a:t>
            </a:r>
          </a:p>
        </p:txBody>
      </p:sp>
      <p:sp>
        <p:nvSpPr>
          <p:cNvPr id="823" name="Oval 822"/>
          <p:cNvSpPr/>
          <p:nvPr/>
        </p:nvSpPr>
        <p:spPr>
          <a:xfrm>
            <a:off x="1261872" y="7287768"/>
            <a:ext cx="73152" cy="73152"/>
          </a:xfrm>
          <a:prstGeom prst="ellipse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4" name="TextBox 823"/>
          <p:cNvSpPr txBox="1"/>
          <p:nvPr/>
        </p:nvSpPr>
        <p:spPr>
          <a:xfrm>
            <a:off x="1417320" y="7251192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Top 10</a:t>
            </a:r>
          </a:p>
        </p:txBody>
      </p:sp>
      <p:sp>
        <p:nvSpPr>
          <p:cNvPr id="825" name="Oval 824"/>
          <p:cNvSpPr/>
          <p:nvPr/>
        </p:nvSpPr>
        <p:spPr>
          <a:xfrm>
            <a:off x="2450592" y="7287768"/>
            <a:ext cx="73152" cy="73152"/>
          </a:xfrm>
          <a:prstGeom prst="ellipse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6" name="TextBox 825"/>
          <p:cNvSpPr txBox="1"/>
          <p:nvPr/>
        </p:nvSpPr>
        <p:spPr>
          <a:xfrm>
            <a:off x="2606040" y="7251192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Ranks 11–50</a:t>
            </a:r>
          </a:p>
        </p:txBody>
      </p:sp>
      <p:sp>
        <p:nvSpPr>
          <p:cNvPr id="827" name="Oval 826"/>
          <p:cNvSpPr/>
          <p:nvPr/>
        </p:nvSpPr>
        <p:spPr>
          <a:xfrm>
            <a:off x="3639312" y="7287768"/>
            <a:ext cx="73152" cy="73152"/>
          </a:xfrm>
          <a:prstGeom prst="ellipse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8" name="TextBox 827"/>
          <p:cNvSpPr txBox="1"/>
          <p:nvPr/>
        </p:nvSpPr>
        <p:spPr>
          <a:xfrm>
            <a:off x="3794760" y="7251192"/>
            <a:ext cx="10058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 i="0">
                <a:solidFill>
                  <a:srgbClr val="222222"/>
                </a:solidFill>
                <a:latin typeface="Arial"/>
              </a:rPr>
              <a:t>Ranked beyond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