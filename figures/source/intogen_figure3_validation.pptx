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(A)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BM25 + enrichment vs frequency-only baseline: Precision@k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05840" y="2578608"/>
            <a:ext cx="46634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250545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109978"/>
            <a:ext cx="46634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3682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1641348"/>
            <a:ext cx="46634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568195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50%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1172718"/>
            <a:ext cx="46634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09956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75%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704088"/>
            <a:ext cx="46634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63093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1518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9679" y="261518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7840" y="261518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1518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2320" y="261518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640" y="261518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61518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50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704088"/>
            <a:ext cx="0" cy="187452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40" y="2578608"/>
            <a:ext cx="4663439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2798063"/>
            <a:ext cx="46634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Gene-rank cutoff (k)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-525779" y="1559051"/>
            <a:ext cx="187451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Mean P@k (± 1 SD)</a:t>
            </a:r>
          </a:p>
        </p:txBody>
      </p:sp>
      <p:sp>
        <p:nvSpPr>
          <p:cNvPr id="24" name="Freeform 23"/>
          <p:cNvSpPr/>
          <p:nvPr/>
        </p:nvSpPr>
        <p:spPr>
          <a:xfrm>
            <a:off x="1005840" y="704088"/>
            <a:ext cx="4663439" cy="583980"/>
          </a:xfrm>
          <a:custGeom>
            <a:avLst/>
            <a:gdLst/>
            <a:ahLst/>
            <a:cxnLst/>
            <a:rect l="l" t="t" r="r" b="b"/>
            <a:pathLst>
              <a:path w="4663439" h="583980">
                <a:moveTo>
                  <a:pt x="0" y="0"/>
                </a:moveTo>
                <a:lnTo>
                  <a:pt x="518159" y="0"/>
                </a:lnTo>
                <a:lnTo>
                  <a:pt x="1036320" y="0"/>
                </a:lnTo>
                <a:lnTo>
                  <a:pt x="1554480" y="12455"/>
                </a:lnTo>
                <a:lnTo>
                  <a:pt x="2590800" y="94944"/>
                </a:lnTo>
                <a:lnTo>
                  <a:pt x="3627120" y="192883"/>
                </a:lnTo>
                <a:lnTo>
                  <a:pt x="4663439" y="256593"/>
                </a:lnTo>
                <a:lnTo>
                  <a:pt x="4663439" y="583980"/>
                </a:lnTo>
                <a:lnTo>
                  <a:pt x="3627120" y="502661"/>
                </a:lnTo>
                <a:lnTo>
                  <a:pt x="2590800" y="470700"/>
                </a:lnTo>
                <a:lnTo>
                  <a:pt x="1554480" y="411777"/>
                </a:lnTo>
                <a:lnTo>
                  <a:pt x="1036320" y="409908"/>
                </a:lnTo>
                <a:lnTo>
                  <a:pt x="518159" y="297432"/>
                </a:lnTo>
                <a:lnTo>
                  <a:pt x="0" y="157671"/>
                </a:lnTo>
                <a:close/>
              </a:path>
            </a:pathLst>
          </a:custGeom>
          <a:solidFill>
            <a:srgbClr val="0072B2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005840" y="743551"/>
            <a:ext cx="518159" cy="78927"/>
          </a:xfrm>
          <a:prstGeom prst="line">
            <a:avLst/>
          </a:prstGeom>
          <a:ln w="190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23999" y="822478"/>
            <a:ext cx="518161" cy="65773"/>
          </a:xfrm>
          <a:prstGeom prst="line">
            <a:avLst/>
          </a:prstGeom>
          <a:ln w="190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42160" y="888251"/>
            <a:ext cx="518160" cy="27953"/>
          </a:xfrm>
          <a:prstGeom prst="line">
            <a:avLst/>
          </a:prstGeom>
          <a:ln w="190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60320" y="916204"/>
            <a:ext cx="1036320" cy="70706"/>
          </a:xfrm>
          <a:prstGeom prst="line">
            <a:avLst/>
          </a:prstGeom>
          <a:ln w="190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96640" y="986910"/>
            <a:ext cx="1036320" cy="64950"/>
          </a:xfrm>
          <a:prstGeom prst="line">
            <a:avLst/>
          </a:prstGeom>
          <a:ln w="190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32960" y="1051860"/>
            <a:ext cx="1036319" cy="72515"/>
          </a:xfrm>
          <a:prstGeom prst="line">
            <a:avLst/>
          </a:prstGeom>
          <a:ln w="190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69264" y="706975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87423" y="785902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05584" y="851675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23744" y="879628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60064" y="950334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6384" y="1015284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32703" y="1087799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005840" y="939584"/>
            <a:ext cx="4663439" cy="910232"/>
          </a:xfrm>
          <a:custGeom>
            <a:avLst/>
            <a:gdLst/>
            <a:ahLst/>
            <a:cxnLst/>
            <a:rect l="l" t="t" r="r" b="b"/>
            <a:pathLst>
              <a:path w="4663439" h="910232">
                <a:moveTo>
                  <a:pt x="0" y="0"/>
                </a:moveTo>
                <a:lnTo>
                  <a:pt x="518159" y="184590"/>
                </a:lnTo>
                <a:lnTo>
                  <a:pt x="1036320" y="351216"/>
                </a:lnTo>
                <a:lnTo>
                  <a:pt x="1554480" y="410537"/>
                </a:lnTo>
                <a:lnTo>
                  <a:pt x="2590800" y="555250"/>
                </a:lnTo>
                <a:lnTo>
                  <a:pt x="3627120" y="607527"/>
                </a:lnTo>
                <a:lnTo>
                  <a:pt x="4663439" y="677442"/>
                </a:lnTo>
                <a:lnTo>
                  <a:pt x="4663439" y="891832"/>
                </a:lnTo>
                <a:lnTo>
                  <a:pt x="3627120" y="869995"/>
                </a:lnTo>
                <a:lnTo>
                  <a:pt x="2590800" y="808814"/>
                </a:lnTo>
                <a:lnTo>
                  <a:pt x="1554480" y="736477"/>
                </a:lnTo>
                <a:lnTo>
                  <a:pt x="1036320" y="716871"/>
                </a:lnTo>
                <a:lnTo>
                  <a:pt x="518159" y="765106"/>
                </a:lnTo>
                <a:lnTo>
                  <a:pt x="0" y="910232"/>
                </a:lnTo>
                <a:close/>
              </a:path>
            </a:pathLst>
          </a:custGeom>
          <a:solidFill>
            <a:srgbClr val="D55E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005840" y="1394700"/>
            <a:ext cx="518159" cy="19732"/>
          </a:xfrm>
          <a:prstGeom prst="line">
            <a:avLst/>
          </a:prstGeom>
          <a:ln w="1905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523999" y="1414432"/>
            <a:ext cx="518161" cy="59195"/>
          </a:xfrm>
          <a:prstGeom prst="line">
            <a:avLst/>
          </a:prstGeom>
          <a:ln w="1905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042160" y="1473627"/>
            <a:ext cx="518160" cy="39464"/>
          </a:xfrm>
          <a:prstGeom prst="line">
            <a:avLst/>
          </a:prstGeom>
          <a:ln w="1905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560320" y="1513091"/>
            <a:ext cx="1036320" cy="108525"/>
          </a:xfrm>
          <a:prstGeom prst="line">
            <a:avLst/>
          </a:prstGeom>
          <a:ln w="1905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596640" y="1621616"/>
            <a:ext cx="1036320" cy="56729"/>
          </a:xfrm>
          <a:prstGeom prst="line">
            <a:avLst/>
          </a:prstGeom>
          <a:ln w="1905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632960" y="1678345"/>
            <a:ext cx="1036319" cy="45876"/>
          </a:xfrm>
          <a:prstGeom prst="line">
            <a:avLst/>
          </a:prstGeom>
          <a:ln w="1905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69264" y="1358124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87423" y="1377856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05584" y="1437051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23744" y="1476515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60064" y="1585040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96384" y="1641769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632703" y="1687645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523999" y="822478"/>
            <a:ext cx="0" cy="591954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569720" y="1036159"/>
            <a:ext cx="10058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Δ = +31.6 pp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596640" y="986910"/>
            <a:ext cx="0" cy="634706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642360" y="1221967"/>
            <a:ext cx="10058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Δ = +33.9 pp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05840" y="2516967"/>
            <a:ext cx="4663439" cy="0"/>
          </a:xfrm>
          <a:prstGeom prst="line">
            <a:avLst/>
          </a:prstGeom>
          <a:ln w="9525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97280" y="2334087"/>
            <a:ext cx="13716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random = 3.3%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59" y="1920239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639311" y="2039111"/>
            <a:ext cx="219457" cy="0"/>
          </a:xfrm>
          <a:prstGeom prst="line">
            <a:avLst/>
          </a:prstGeom>
          <a:ln w="1905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3717035" y="2007107"/>
            <a:ext cx="64008" cy="64008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13631" y="1965959"/>
            <a:ext cx="1554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OncoDigger (BM25 + enrichment)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639311" y="2240279"/>
            <a:ext cx="219457" cy="0"/>
          </a:xfrm>
          <a:prstGeom prst="line">
            <a:avLst/>
          </a:prstGeom>
          <a:ln w="1905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717035" y="2208275"/>
            <a:ext cx="64008" cy="64008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13631" y="2167127"/>
            <a:ext cx="1554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Frequency-only baseline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301752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(B)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Per-cancer Precision@10: OncoDigger vs frequency-only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645919" y="3520440"/>
            <a:ext cx="0" cy="1997964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417319" y="555498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537460" y="3520440"/>
            <a:ext cx="0" cy="1997964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308860" y="555498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25%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429000" y="3520440"/>
            <a:ext cx="0" cy="1997964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200400" y="555498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50%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320540" y="3520440"/>
            <a:ext cx="0" cy="1997964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091939" y="555498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75%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212079" y="3520440"/>
            <a:ext cx="0" cy="1997964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983479" y="555498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645919" y="5518404"/>
            <a:ext cx="356616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645919" y="3520440"/>
            <a:ext cx="0" cy="1997964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645919" y="5719572"/>
            <a:ext cx="35661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Precision@10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349986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715768" y="3573018"/>
            <a:ext cx="2139696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2681477" y="353872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821174" y="353872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85231" y="349986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+60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" y="3605022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Lymphoma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072384" y="3678174"/>
            <a:ext cx="213969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3038094" y="364388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177790" y="364388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85231" y="360502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+60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" y="371017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072384" y="3783330"/>
            <a:ext cx="213969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3038094" y="374904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177790" y="374904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85231" y="371017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+60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381533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Liver Cancer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072384" y="3888486"/>
            <a:ext cx="178308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3038094" y="385419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821174" y="385419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85231" y="381533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+50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0040" y="3920490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Cervical Cancer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785615" y="3993642"/>
            <a:ext cx="1426464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3751326" y="3959352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177790" y="3959352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85231" y="392049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+40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0040" y="402564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Esophageal Cancer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785615" y="4098798"/>
            <a:ext cx="1426464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3751326" y="406450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177790" y="406450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85231" y="402564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+40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0040" y="4130802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Leukemia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785615" y="4203954"/>
            <a:ext cx="1426464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3751326" y="416966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177790" y="416966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85231" y="413080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+40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0040" y="423595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Stomach Cancer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3785615" y="4309110"/>
            <a:ext cx="1426464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751326" y="427482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177790" y="427482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85231" y="423595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+40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0040" y="434111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Bladder Cancer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142231" y="4414266"/>
            <a:ext cx="1069848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4107941" y="437997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177790" y="437997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285231" y="434111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+30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0040" y="4446270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Pancreatic Cancer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4142231" y="4519422"/>
            <a:ext cx="1069848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4107941" y="4485132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177790" y="4485132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85231" y="444627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+30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0040" y="455142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Thyroid Cancer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142231" y="4624578"/>
            <a:ext cx="1069848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4107941" y="459028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177790" y="459028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285231" y="455142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+30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0040" y="4656582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Brain Cancer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142231" y="4729734"/>
            <a:ext cx="713233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4107941" y="469544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821174" y="469544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285231" y="465658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0040" y="476173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Kidney Cancer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4142231" y="4834890"/>
            <a:ext cx="713233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4107941" y="480060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821174" y="480060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285231" y="476173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+20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20040" y="486689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Prostate Cancer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4142231" y="4940046"/>
            <a:ext cx="713233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4107941" y="490575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821174" y="490575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85231" y="486689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+20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0040" y="4972050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Breast Cancer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4498848" y="5045202"/>
            <a:ext cx="7132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4464558" y="5010912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177790" y="5010912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285231" y="497205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+20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20040" y="507720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Colorectal Cancer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3785615" y="5150358"/>
            <a:ext cx="356616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3751326" y="511606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107941" y="511606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285231" y="507720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0040" y="5182362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Endometrial Cancer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3785615" y="5255514"/>
            <a:ext cx="356616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3751326" y="522122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107941" y="522122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285231" y="518236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0040" y="528751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Lung Cancer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4855464" y="5360670"/>
            <a:ext cx="35661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4821174" y="532638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177790" y="532638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285231" y="528751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20040" y="539267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Ovarian Cancer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4498848" y="5465826"/>
            <a:ext cx="356616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Oval 170"/>
          <p:cNvSpPr/>
          <p:nvPr/>
        </p:nvSpPr>
        <p:spPr>
          <a:xfrm>
            <a:off x="4464558" y="543153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821174" y="543153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285231" y="539267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230367" y="3337560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Δ (pp)</a:t>
            </a:r>
          </a:p>
        </p:txBody>
      </p:sp>
      <p:sp>
        <p:nvSpPr>
          <p:cNvPr id="175" name="Oval 174"/>
          <p:cNvSpPr/>
          <p:nvPr/>
        </p:nvSpPr>
        <p:spPr>
          <a:xfrm>
            <a:off x="1748789" y="331241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874519" y="3273552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OncoDigger</a:t>
            </a:r>
          </a:p>
        </p:txBody>
      </p:sp>
      <p:sp>
        <p:nvSpPr>
          <p:cNvPr id="177" name="Oval 176"/>
          <p:cNvSpPr/>
          <p:nvPr/>
        </p:nvSpPr>
        <p:spPr>
          <a:xfrm>
            <a:off x="2754629" y="331241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880360" y="3273552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Frequency-only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20040" y="5852159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(C)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Corpus separation recovers genes absent from the pooled ranking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1645919" y="6217920"/>
            <a:ext cx="0" cy="173735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1463039" y="7991855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2359152" y="6217920"/>
            <a:ext cx="0" cy="173735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2176272" y="7991855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3072384" y="6217920"/>
            <a:ext cx="0" cy="173735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889503" y="7991855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3785615" y="6217920"/>
            <a:ext cx="0" cy="173735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3602735" y="7991855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4498848" y="6217920"/>
            <a:ext cx="0" cy="173735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4315968" y="7991855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5212079" y="6217920"/>
            <a:ext cx="0" cy="173735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5029199" y="7991855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1645919" y="7955279"/>
            <a:ext cx="356616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645919" y="6217920"/>
            <a:ext cx="0" cy="1737359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1645919" y="8156448"/>
            <a:ext cx="35661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OncoDigger top-10 genes absent from the pooled-corpus top-10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20040" y="620877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Lymphoma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645919" y="6231636"/>
            <a:ext cx="3209544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901183" y="620877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9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0040" y="630021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Kidney Cancer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645919" y="6323075"/>
            <a:ext cx="2852928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498848" y="6323075"/>
            <a:ext cx="356616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4901183" y="630021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9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20040" y="639165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645919" y="6414516"/>
            <a:ext cx="2852928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544568" y="639165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8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20040" y="648309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Bladder Cancer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645919" y="6505955"/>
            <a:ext cx="2496312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187951" y="648309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7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20040" y="657453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Leukemia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645919" y="6597396"/>
            <a:ext cx="2496312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187951" y="657453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7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20040" y="666597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Prostate Cancer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645919" y="6688836"/>
            <a:ext cx="2139696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785615" y="6688836"/>
            <a:ext cx="356616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187951" y="666597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7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0040" y="675741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Breast Cancer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645919" y="6780276"/>
            <a:ext cx="2139696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831335" y="675741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20040" y="684885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Cervical Cancer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645919" y="6871716"/>
            <a:ext cx="2139696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831335" y="684885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20040" y="694029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Brain Cancer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645919" y="6963155"/>
            <a:ext cx="1783080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429000" y="6963155"/>
            <a:ext cx="356616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831335" y="694029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20040" y="703173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645919" y="7054596"/>
            <a:ext cx="1783080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429000" y="7054596"/>
            <a:ext cx="356616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3831335" y="703173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6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20040" y="712317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Endometrial Cancer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645919" y="7146036"/>
            <a:ext cx="1069848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715768" y="7146036"/>
            <a:ext cx="1069848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831335" y="712317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20040" y="721461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Lung Cancer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645919" y="7237476"/>
            <a:ext cx="1783080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474720" y="721461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5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20040" y="730605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Pancreatic Cancer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645919" y="7328916"/>
            <a:ext cx="1783080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0" y="730605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20040" y="739749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Stomach Cancer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645919" y="7420356"/>
            <a:ext cx="1783080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3474720" y="739749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20040" y="748893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Thyroid Cancer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645919" y="7511796"/>
            <a:ext cx="1783080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474720" y="748893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5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20040" y="758037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Esophageal Cancer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645919" y="7603236"/>
            <a:ext cx="1426464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118103" y="758037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4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20040" y="767181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Liver Cancer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645919" y="7694676"/>
            <a:ext cx="1069848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715768" y="7694676"/>
            <a:ext cx="356616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118103" y="767181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4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20040" y="776325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Colorectal Cancer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645919" y="7786116"/>
            <a:ext cx="356616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2002536" y="7786116"/>
            <a:ext cx="1069848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3118103" y="776325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4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20040" y="7854696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Ovarian Cancer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645919" y="7877556"/>
            <a:ext cx="713232" cy="6400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359152" y="7877556"/>
            <a:ext cx="356616" cy="6400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761487" y="7854696"/>
            <a:ext cx="2743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3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4297679" y="7571231"/>
            <a:ext cx="100584" cy="10058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4434840" y="7543800"/>
            <a:ext cx="7772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IntOGen driver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4297679" y="7735823"/>
            <a:ext cx="100584" cy="10058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4434840" y="7708392"/>
            <a:ext cx="7772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Not IntOGen driver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