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6126480" cy="86868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320040"/>
            <a:ext cx="548640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222222"/>
                </a:solidFill>
                <a:latin typeface="Arial"/>
              </a:rPr>
              <a:t>IntOGen's own confidence signals: surfaced vs never-surfaced driver pairs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097280" y="3017520"/>
            <a:ext cx="4663440" cy="0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13232" y="2944368"/>
            <a:ext cx="36576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222222"/>
                </a:solidFill>
                <a:latin typeface="Arial"/>
              </a:rPr>
              <a:t>0%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097280" y="2491739"/>
            <a:ext cx="4663440" cy="0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13232" y="2418587"/>
            <a:ext cx="36576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222222"/>
                </a:solidFill>
                <a:latin typeface="Arial"/>
              </a:rPr>
              <a:t>20%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097280" y="1965960"/>
            <a:ext cx="4663440" cy="0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13232" y="1892807"/>
            <a:ext cx="36576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222222"/>
                </a:solidFill>
                <a:latin typeface="Arial"/>
              </a:rPr>
              <a:t>40%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097280" y="1440180"/>
            <a:ext cx="4663440" cy="0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13232" y="1367028"/>
            <a:ext cx="36576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222222"/>
                </a:solidFill>
                <a:latin typeface="Arial"/>
              </a:rPr>
              <a:t>60%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097280" y="914400"/>
            <a:ext cx="4663440" cy="0"/>
          </a:xfrm>
          <a:prstGeom prst="line">
            <a:avLst/>
          </a:prstGeom>
          <a:ln w="635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13232" y="841248"/>
            <a:ext cx="36576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222222"/>
                </a:solidFill>
                <a:latin typeface="Arial"/>
              </a:rPr>
              <a:t>80%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097280" y="914400"/>
            <a:ext cx="0" cy="2103120"/>
          </a:xfrm>
          <a:prstGeom prst="line">
            <a:avLst/>
          </a:prstGeom>
          <a:ln w="9525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097280" y="3017520"/>
            <a:ext cx="4663440" cy="0"/>
          </a:xfrm>
          <a:prstGeom prst="line">
            <a:avLst/>
          </a:prstGeom>
          <a:ln w="9525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1198909" y="1951470"/>
            <a:ext cx="213185" cy="1066049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448670" y="1004180"/>
            <a:ext cx="213185" cy="2013339"/>
          </a:xfrm>
          <a:prstGeom prst="rect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3054096"/>
            <a:ext cx="666205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 i="0">
                <a:solidFill>
                  <a:srgbClr val="222222"/>
                </a:solidFill>
                <a:latin typeface="Arial"/>
              </a:rPr>
              <a:t>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65114" y="2713920"/>
            <a:ext cx="213185" cy="303599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114876" y="2662699"/>
            <a:ext cx="213185" cy="354820"/>
          </a:xfrm>
          <a:prstGeom prst="rect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763485" y="3054096"/>
            <a:ext cx="666205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 i="0">
                <a:solidFill>
                  <a:srgbClr val="222222"/>
                </a:solidFill>
                <a:latin typeface="Arial"/>
              </a:rPr>
              <a:t>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531320" y="2727720"/>
            <a:ext cx="213185" cy="289800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781082" y="2872366"/>
            <a:ext cx="213185" cy="145153"/>
          </a:xfrm>
          <a:prstGeom prst="rect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429691" y="3054096"/>
            <a:ext cx="666205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 i="0">
                <a:solidFill>
                  <a:srgbClr val="222222"/>
                </a:solidFill>
                <a:latin typeface="Arial"/>
              </a:rPr>
              <a:t>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197526" y="2586270"/>
            <a:ext cx="213185" cy="431249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447287" y="2931502"/>
            <a:ext cx="213185" cy="86017"/>
          </a:xfrm>
          <a:prstGeom prst="rect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095897" y="3054096"/>
            <a:ext cx="666205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 i="0">
                <a:solidFill>
                  <a:srgbClr val="222222"/>
                </a:solidFill>
                <a:latin typeface="Arial"/>
              </a:rPr>
              <a:t>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863731" y="2796719"/>
            <a:ext cx="213185" cy="220799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113493" y="2996015"/>
            <a:ext cx="213185" cy="21504"/>
          </a:xfrm>
          <a:prstGeom prst="rect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62102" y="3054096"/>
            <a:ext cx="666205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 i="0">
                <a:solidFill>
                  <a:srgbClr val="222222"/>
                </a:solidFill>
                <a:latin typeface="Arial"/>
              </a:rPr>
              <a:t>5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29937" y="2855369"/>
            <a:ext cx="213185" cy="162149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779699" y="3009455"/>
            <a:ext cx="213185" cy="8064"/>
          </a:xfrm>
          <a:prstGeom prst="rect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28308" y="3054096"/>
            <a:ext cx="666205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 i="0">
                <a:solidFill>
                  <a:srgbClr val="222222"/>
                </a:solidFill>
                <a:latin typeface="Arial"/>
              </a:rPr>
              <a:t>6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196143" y="2862270"/>
            <a:ext cx="213185" cy="155250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445905" y="3017520"/>
            <a:ext cx="213185" cy="0"/>
          </a:xfrm>
          <a:prstGeom prst="rect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94514" y="3054096"/>
            <a:ext cx="666205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0" i="0">
                <a:solidFill>
                  <a:srgbClr val="222222"/>
                </a:solidFill>
                <a:latin typeface="Arial"/>
              </a:rPr>
              <a:t>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" y="3236976"/>
            <a:ext cx="466344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222222"/>
                </a:solidFill>
                <a:latin typeface="Arial"/>
              </a:rPr>
              <a:t>Number of IntOGen methods agreeing</a:t>
            </a:r>
          </a:p>
        </p:txBody>
      </p:sp>
      <p:sp>
        <p:nvSpPr>
          <p:cNvPr id="37" name="TextBox 36"/>
          <p:cNvSpPr txBox="1"/>
          <p:nvPr/>
        </p:nvSpPr>
        <p:spPr>
          <a:xfrm rot="16200000">
            <a:off x="-429767" y="1883664"/>
            <a:ext cx="2103120" cy="16459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222222"/>
                </a:solidFill>
                <a:latin typeface="Arial"/>
              </a:rPr>
              <a:t>% of pairs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0" y="960120"/>
            <a:ext cx="20574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730752" y="1078992"/>
            <a:ext cx="164592" cy="91440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950208" y="1051560"/>
            <a:ext cx="164592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00" b="1" i="0">
                <a:solidFill>
                  <a:srgbClr val="0072B2"/>
                </a:solidFill>
                <a:latin typeface="Arial"/>
              </a:rPr>
              <a:t>Surfaced (n=762)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730752" y="1280160"/>
            <a:ext cx="164592" cy="91440"/>
          </a:xfrm>
          <a:prstGeom prst="rect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950208" y="1252728"/>
            <a:ext cx="164592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00" b="1" i="0">
                <a:solidFill>
                  <a:srgbClr val="D55E00"/>
                </a:solidFill>
                <a:latin typeface="Arial"/>
              </a:rPr>
              <a:t>Never surfaced (n=978)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20040" y="3520439"/>
            <a:ext cx="54864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1">
                <a:solidFill>
                  <a:srgbClr val="222222"/>
                </a:solidFill>
                <a:latin typeface="Arial"/>
              </a:rPr>
              <a:t>Never-surfaced pairs skew toward IntOGen's single-method, lower-significance, lower-mutation-frequency tier (Mann-Whitney p&lt;10⁻³⁵ for all three comparisons); 76.6% rest on only one of IntOGen's seven driver-detection methods, versus 40.6% of surfaced pairs (Supplementary Table S12).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